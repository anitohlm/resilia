
<file path=[Content_Types].xml><?xml version="1.0" encoding="UTF-8" standalone="yes"?><Types xmlns="http://schemas.openxmlformats.org/package/2006/content-types" xmlns="http://schemas.openxmlformats.org/package/2006/content-types"><Default ContentType="application/x-fontdata" Extension="fntdata"/><Default ContentType="application/xml" Extension="xml"/><Default ContentType="image/png" Extension="png"/><Default ContentType="application/vnd.openxmlformats-officedocument.obfuscatedFont" Extension="odttf"/><Default ContentType="application/vnd.openxmlformats-package.relationships+xml" Extension="rels"/><Override ContentType="application/vnd.openxmlformats-officedocument.presentationml.notesSlide+xml" PartName="/ppt/notesSlides/notesSlide6.xml"/><Override ContentType="application/vnd.openxmlformats-officedocument.presentationml.notesSlide+xml" PartName="/ppt/notesSlides/notesSlide13.xml"/><Override ContentType="application/vnd.openxmlformats-officedocument.presentationml.notesSlide+xml" PartName="/ppt/notesSlides/notesSlide1.xml"/><Override ContentType="application/vnd.openxmlformats-officedocument.presentationml.notesSlide+xml" PartName="/ppt/notesSlides/notesSlide3.xml"/><Override ContentType="application/vnd.openxmlformats-officedocument.presentationml.notesSlide+xml" PartName="/ppt/notesSlides/notesSlide9.xml"/><Override ContentType="application/vnd.openxmlformats-officedocument.presentationml.notesSlide+xml" PartName="/ppt/notesSlides/notesSlide15.xml"/><Override ContentType="application/vnd.openxmlformats-officedocument.presentationml.notesSlide+xml" PartName="/ppt/notesSlides/notesSlide7.xml"/><Override ContentType="application/vnd.openxmlformats-officedocument.presentationml.notesSlide+xml" PartName="/ppt/notesSlides/notesSlide11.xml"/><Override ContentType="application/vnd.openxmlformats-officedocument.presentationml.notesSlide+xml" PartName="/ppt/notesSlides/notesSlide5.xml"/><Override ContentType="application/vnd.openxmlformats-officedocument.presentationml.notesSlide+xml" PartName="/ppt/notesSlides/notesSlide12.xml"/><Override ContentType="application/vnd.openxmlformats-officedocument.presentationml.notesSlide+xml" PartName="/ppt/notesSlides/notesSlide16.xml"/><Override ContentType="application/vnd.openxmlformats-officedocument.presentationml.notesSlide+xml" PartName="/ppt/notesSlides/notesSlide8.xml"/><Override ContentType="application/vnd.openxmlformats-officedocument.presentationml.notesSlide+xml" PartName="/ppt/notesSlides/notesSlide14.xml"/><Override ContentType="application/vnd.openxmlformats-officedocument.presentationml.notesSlide+xml" PartName="/ppt/notesSlides/notesSlide2.xml"/><Override ContentType="application/vnd.openxmlformats-officedocument.presentationml.notesSlide+xml" PartName="/ppt/notesSlides/notesSlide4.xml"/><Override ContentType="application/vnd.openxmlformats-officedocument.presentationml.notesSlide+xml" PartName="/ppt/notesSlides/notesSlide10.xml"/><Override ContentType="application/vnd.openxmlformats-officedocument.presentationml.slideLayout+xml" PartName="/ppt/slideLayouts/slideLayout3.xml"/><Override ContentType="application/vnd.openxmlformats-officedocument.presentationml.slideLayout+xml" PartName="/ppt/slideLayouts/slideLayout4.xml"/><Override ContentType="application/vnd.openxmlformats-officedocument.presentationml.slideLayout+xml" PartName="/ppt/slideLayouts/slideLayout5.xml"/><Override ContentType="application/vnd.openxmlformats-officedocument.presentationml.slideLayout+xml" PartName="/ppt/slideLayouts/slideLayout2.xml"/><Override ContentType="application/vnd.openxmlformats-officedocument.presentationml.slideLayout+xml" PartName="/ppt/slideLayouts/slideLayout11.xml"/><Override ContentType="application/vnd.openxmlformats-officedocument.presentationml.slideLayout+xml" PartName="/ppt/slideLayouts/slideLayout1.xml"/><Override ContentType="application/vnd.openxmlformats-officedocument.presentationml.slideLayout+xml" PartName="/ppt/slideLayouts/slideLayout10.xml"/><Override ContentType="application/vnd.openxmlformats-officedocument.presentationml.slideLayout+xml" PartName="/ppt/slideLayouts/slideLayout7.xml"/><Override ContentType="application/vnd.openxmlformats-officedocument.presentationml.slideLayout+xml" PartName="/ppt/slideLayouts/slideLayout6.xml"/><Override ContentType="application/vnd.openxmlformats-officedocument.presentationml.slideLayout+xml" PartName="/ppt/slideLayouts/slideLayout8.xml"/><Override ContentType="application/vnd.openxmlformats-officedocument.presentationml.slideLayout+xml" PartName="/ppt/slideLayouts/slideLayout9.xml"/><Override ContentType="application/vnd.openxmlformats-officedocument.presentationml.slideMaster+xml" PartName="/ppt/slideMasters/slideMaster1.xml"/><Override ContentType="application/vnd.openxmlformats-officedocument.presentationml.slide+xml" PartName="/ppt/slides/slide4.xml"/><Override ContentType="application/vnd.openxmlformats-officedocument.presentationml.slide+xml" PartName="/ppt/slides/slide11.xml"/><Override ContentType="application/vnd.openxmlformats-officedocument.presentationml.slide+xml" PartName="/ppt/slides/slide1.xml"/><Override ContentType="application/vnd.openxmlformats-officedocument.presentationml.slide+xml" PartName="/ppt/slides/slide3.xml"/><Override ContentType="application/vnd.openxmlformats-officedocument.presentationml.slide+xml" PartName="/ppt/slides/slide9.xml"/><Override ContentType="application/vnd.openxmlformats-officedocument.presentationml.slide+xml" PartName="/ppt/slides/slide13.xml"/><Override ContentType="application/vnd.openxmlformats-officedocument.presentationml.slide+xml" PartName="/ppt/slides/slide5.xml"/><Override ContentType="application/vnd.openxmlformats-officedocument.presentationml.slide+xml" PartName="/ppt/slides/slide7.xml"/><Override ContentType="application/vnd.openxmlformats-officedocument.presentationml.slide+xml" PartName="/ppt/slides/slide15.xml"/><Override ContentType="application/vnd.openxmlformats-officedocument.presentationml.slide+xml" PartName="/ppt/slides/slide12.xml"/><Override ContentType="application/vnd.openxmlformats-officedocument.presentationml.slide+xml" PartName="/ppt/slides/slide10.xml"/><Override ContentType="application/vnd.openxmlformats-officedocument.presentationml.slide+xml" PartName="/ppt/slides/slide2.xml"/><Override ContentType="application/vnd.openxmlformats-officedocument.presentationml.slide+xml" PartName="/ppt/slides/slide6.xml"/><Override ContentType="application/vnd.openxmlformats-officedocument.presentationml.slide+xml" PartName="/ppt/slides/slide16.xml"/><Override ContentType="application/vnd.openxmlformats-officedocument.presentationml.slide+xml" PartName="/ppt/slides/slide8.xml"/><Override ContentType="application/vnd.openxmlformats-officedocument.presentationml.slide+xml" PartName="/ppt/slides/slide14.xml"/><Override ContentType="application/vnd.openxmlformats-officedocument.presentationml.notesMaster+xml" PartName="/ppt/notesMasters/notesMaster1.xml"/><Override ContentType="application/vnd.openxmlformats-officedocument.presentationml.presentation.main+xml" PartName="/ppt/presentation.xml"/><Override ContentType="application/vnd.openxmlformats-officedocument.presentationml.presProps+xml" PartName="/ppt/presProps.xml"/><Override ContentType="application/vnd.openxmlformats-officedocument.theme+xml" PartName="/ppt/theme/theme1.xml"/><Override ContentType="application/vnd.openxmlformats-officedocument.theme+xml" PartName="/ppt/theme/theme2.xml"/><Override ContentType="application/vnd.openxmlformats-officedocument.presentationml.viewProps+xml" PartName="/ppt/viewProps.xml"/><Default Extension="jpeg" ContentType="image/jpeg"/><Default Extension="jpg" ContentType="image/jpeg"/><Override PartName="/docProps/core.xml" ContentType="application/vnd.openxmlformats-package.core-properties+xml"/><Override PartName="/docProps/app.xml" ContentType="application/vnd.openxmlformats-officedocument.extended-properties+xml"/></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Core" Type="http://schemas.openxmlformats.org/package/2006/relationships/metadata/core-properties" Target="docProps/core.xml"/><Relationship Id="rIdApp" Type="http://schemas.openxmlformats.org/officeDocument/2006/relationships/extended-properties" Target="docProps/app.xml"/></Relationships>
</file>

<file path=docProps\app.xml><?xml version="1.0" encoding="utf-8"?>
<Properties xmlns="http://schemas.openxmlformats.org/officeDocument/2006/extended-properties" xmlns:vt="http://schemas.openxmlformats.org/officeDocument/2006/docPropsVTypes">
  <TotalTime>0</TotalTime>
  <Words>1450</Words>
  <Application>Microsoft PowerPoint</Application>
  <PresentationFormat>Widescreen</PresentationFormat>
  <Paragraphs>180</Paragraphs>
  <Slides>16</Slides>
  <Notes>16</Notes>
  <HiddenSlides>0</HiddenSlides>
  <MMClips>0</MMClips>
  <ScaleCrop>false</ScaleCrop>
  <Company>Resilia Community Resilience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Builder Cup Submission | RESILIA Pitch Deck</dc:title>
  <dc:subject>Google Cloud AI Builder Cup JAPAC 2026 Submission</dc:subject>
  <dc:creator>Resilia Engineering Team</dc:creator>
  <cp:keywords>Disaster Resilience, Google Gemini, Offline PWA, JAPAC, Marikina River Basin</cp:keywords>
  <dc:description>AI-Assisted Community Disaster Coordination Operating Under Severe Network Degradation</dc:description>
  <cp:lastModifiedBy>Resilia Engineering Team</cp:lastModifiedBy>
  <dcterms:created xsi:type="dcterms:W3CDTF">2026-10-18T00:00:00Z</dcterms:created>
  <dcterms:modified xsi:type="dcterms:W3CDTF">2026-10-18T00:00:00Z</dcterms:modified>
</cp:coreProperties>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GoogleSansFlexMedium-regular.fntdata"/><Relationship Id="rId21" Type="http://schemas.openxmlformats.org/officeDocument/2006/relationships/slide" Target="slides/slide16.xml"/><Relationship Id="rId24" Type="http://schemas.openxmlformats.org/officeDocument/2006/relationships/font" Target="fonts/GoogleSansFlex-regular.fntdata"/><Relationship Id="rId23" Type="http://schemas.openxmlformats.org/officeDocument/2006/relationships/font" Target="fonts/GoogleSansFlex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oogleSansFlexSemiBold-regular.fntdata"/><Relationship Id="rId25" Type="http://schemas.openxmlformats.org/officeDocument/2006/relationships/font" Target="fonts/GoogleSansFlex-bold.fntdata"/><Relationship Id="rId27" Type="http://schemas.openxmlformats.org/officeDocument/2006/relationships/font" Target="fonts/GoogleSansFlex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Disasters don't wait for good Wi-Fi. In the first 72 hours of a typhoon or flood, cellular infrastructure often fails and power grids go dark. Resilia is an AI-assisted community disaster coordination platform designed to keep vital lifelines open even under severe network disruptions. We are proud to submit Resilia to the Google Cloud AI Builder Cup.</a:t>
            </a:r>
            <a:endParaRPr sz="1300">
              <a:latin typeface="Google Sans Flex"/>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This submission deck has been directly authored inside the official Google Cloud AI Builder Cup presentation template, preserving all original branding, layouts, embedded Google Sans typography, and slide structures without custom aesthetic overrides.</a:t>
            </a:r>
            <a:endParaRPr sz="1300">
              <a:latin typeface="Google Sans Fle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Every modern disaster management tool makes one fatal assumption: that the internet will work. But in climate-vulnerable regions across JAPAC, cell towers drown and power lines snap. Resilia bridges this gap with a hybrid architecture: leveraging Google Gemini 3.8 Flash in the cloud for deep situational intelligence, while executing deterministic algorithms locally on edge devices so life-saving coordination never stops.</a:t>
            </a:r>
            <a:endParaRPr sz="1300">
              <a:latin typeface="Google Sans Flex"/>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Why does Resilia stand out? First, existing disaster apps trap users in loading spinners when cell towers flood; Resilia operates locally with sub-second response times. Second, we prioritize the vulnerable—bedridden seniors and nursing mothers are scored and rescued first. And third, our USP is a hybrid dual-engine: Google Gemini in the cloud for macro synthesis, paired with zero-overhead local execution when networks fail.</a:t>
            </a:r>
            <a:endParaRPr sz="1300">
              <a:latin typeface="Google Sans Flex"/>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These aren't hypothetical concepts—they are seven fully built community resilience modules in our codebase. From START casualty triage wristbands and fraud-proof ayuda relief scanning, to missing kin reunification and a 72-hour Leptospirosis prevention countdown, Resilia solves the actual operational hardships faced in Philippine evacuation shelters.</a:t>
            </a:r>
            <a:endParaRPr sz="1300">
              <a:latin typeface="Google Sans Flex"/>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Our process flow diagram maps the complete disaster lifecycle across five stages. When a citizen reports an emergency or river sensors trigger Alarm Level 3, the event is immediately committed to local memory. Gemini clusters incidents online, while local rules compute vulnerability scores. Crucially, a human coordinator must authorize the dispatch, after which responders execute field triage and shelter teams log aid distribution.</a:t>
            </a:r>
            <a:endParaRPr sz="1300">
              <a:latin typeface="Google Sans Flex"/>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delivers three purpose-built mobile interfaces. Residents receive a clear, high-contrast action cockpit with emergency alerts, shelter finders, and an SOS beacon. Responders receive an active mission console with real-time triage and GPS navigation. And Coordinators manage an operations command center with telemetry cross-checking and a human approval gatekeeper.</a:t>
            </a:r>
            <a:endParaRPr sz="1300">
              <a:latin typeface="Google Sans Flex"/>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Resilia's architecture pairs Google Cloud with resilient edge execution. In the cloud, Gemini 3.8 Flash and Cloud Run provide situational intelligence and city-wide synchronization. At the edge, a Progressive Web App powered by 15 IndexedDB stores executes deterministic triage and inventory rules. When connectivity drops, edge operations continue seamlessly; when restored, idempotent sync merges all records.</a:t>
            </a:r>
            <a:endParaRPr sz="1300">
              <a:latin typeface="Google Sans Flex"/>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We selected an enterprise-grade Google Cloud stack paired with modern web standards. We use Google Gemini 3.8 Flash for AI reasoning, Cloud Run for containerized backend services, and React 19 with Vite and Tailwind for the front end. On the client, browser IndexedDB provides transactional storage, and the entire stack can run locally on a thirty-five dollar Raspberry Pi mesh node.</a:t>
            </a:r>
            <a:endParaRPr sz="1300">
              <a:latin typeface="Google Sans Flex"/>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is engineered to be exceptionally frugal and sustainable for developing communities. The client app costs zero dollars per citizen because it runs in the browser. A local shelter Wi-Fi node costs under sixty dollars using a Raspberry Pi. And our Google Cloud infrastructure scales to zero between storms, costing under fifty dollars per month during active emergencies.</a:t>
            </a:r>
            <a:endParaRPr sz="1300">
              <a:latin typeface="Google Sans Flex"/>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Here are direct snapshots of our working prototype in action. You can see emergency responders conducting START triage tagging, evacuation volunteers managing fraud-proof ayuda QR ration distribution, community members exchanging solar power on the Bayanihan board, and our rooftop survival beacon signaling rescue boats.</a:t>
            </a:r>
            <a:endParaRPr sz="1300">
              <a:latin typeface="Google Sans Flex"/>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is backed by 244 passing automated test assertions. In software simulation modeled on the Marikina River Basin, local transaction latency remained under fifteen milliseconds even during simulated total network loss. Vulnerability scoring successfully prioritized bedridden citizens at 94 out of 100, and relief ledgers prevented duplicate claims with zero overdrafts.</a:t>
            </a:r>
            <a:endParaRPr sz="1300">
              <a:latin typeface="Google Sans Flex"/>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Looking ahead, our roadmap bridges software simulation to nationwide deployment. Phase 1 proves the prototype architecture. In Phase 2, we will pilot with the Marikina City Disaster Risk Reduction and Management Office while integrating LoRa mesh hardware. In Phase 3, we aim to scale across 42,000 Philippine barangays and vulnerable coastal regions across JAPAC.</a:t>
            </a:r>
            <a:endParaRPr sz="1300">
              <a:latin typeface="Google Sans Flex"/>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You can explore all our submission deliverables through these three links: our public GitHub repository with full source code and test suites; our three-minute Full HD demo video with compassionate voiceover; and our live production web application where you can toggle offline simulation and experience Resilia first-hand.</a:t>
            </a:r>
            <a:endParaRPr sz="1300">
              <a:latin typeface="Google Sans Flex"/>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directly advances UN Sustainable Development Goals 11 and 13 as well as the Sendai Framework Priority 4. By removing all financial, technical, and connectivity barriers, we empower grassroots communities to protect themselves and foster true bayanihan community solidarity.</a:t>
            </a:r>
            <a:endParaRPr sz="1300">
              <a:latin typeface="Google Sans Flex"/>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Disasters are inevitable, but being left in the dark is not. Resilia demonstrates how Google Cloud AI and edge resilience can protect vulnerable communities when they need it most. On behalf of the Resilia team, thank you to the Google Cloud AI Builder Cup judges, and we look forward to your questions.</a:t>
            </a:r>
            <a:endParaRPr sz="1300">
              <a:latin typeface="Google Sans Flex"/>
            </a:endParaRPr>
          </a:p>
        </p:txBody>
      </p:sp>
    </p:spTree>
  </p:cSld>
  <p:clrMapOvr>
    <a:masterClrMapping/>
  </p:clrMapOvr>
</p:notes>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xml"/><Relationship Id="rIdTplBanner" Type="http://schemas.openxmlformats.org/officeDocument/2006/relationships/image" Target="../media/image4.png"/><Relationship Id="rIdTplFooter" Type="http://schemas.openxmlformats.org/officeDocument/2006/relationships/image" Target="../media/image3.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2.xml"/><Relationship Id="rIdTplFooter" Type="http://schemas.openxmlformats.org/officeDocument/2006/relationships/image" Target="../media/image3.png"/><Relationship Id="rIdTplDownload" Type="http://schemas.openxmlformats.org/officeDocument/2006/relationships/image" Target="../media/image1.pn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3.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4.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5.xml"/><Relationship Id="rIdTplFooter" Type="http://schemas.openxmlformats.org/officeDocument/2006/relationships/image" Target="../media/image3.png"/><Relationship Id="rIdTplHeader" Type="http://schemas.openxmlformats.org/officeDocument/2006/relationships/image" Target="../media/image2.png"/><Relationship Id="rIdImgBeacon" Type="http://schemas.openxmlformats.org/officeDocument/2006/relationships/image" Target="../media/feature_beacon_sos.jp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6.xml"/><Relationship Id="rIdTplFooter" Type="http://schemas.openxmlformats.org/officeDocument/2006/relationships/image" Target="../media/image3.png"/><Relationship Id="rIdTplHeader" Type="http://schemas.openxmlformats.org/officeDocument/2006/relationships/image" Target="../media/image2.png"/><Relationship Id="rIdImgProcessFlow" Type="http://schemas.openxmlformats.org/officeDocument/2006/relationships/image" Target="../media/process_flow_diagram.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7.xml"/><Relationship Id="rIdTplFooter" Type="http://schemas.openxmlformats.org/officeDocument/2006/relationships/image" Target="../media/image3.png"/><Relationship Id="rIdTplHeader" Type="http://schemas.openxmlformats.org/officeDocument/2006/relationships/image" Target="../media/image2.png"/><Relationship Id="rIdImgResident" Type="http://schemas.openxmlformats.org/officeDocument/2006/relationships/image" Target="../media/resilia_phone_resident.jpg"/><Relationship Id="rIdImgResponder" Type="http://schemas.openxmlformats.org/officeDocument/2006/relationships/image" Target="../media/resilia_phone_responder.jpg"/><Relationship Id="rIdImgCoordinator" Type="http://schemas.openxmlformats.org/officeDocument/2006/relationships/image" Target="../media/resilia_phone_coordinator.jp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8.xml"/><Relationship Id="rIdTplFooter" Type="http://schemas.openxmlformats.org/officeDocument/2006/relationships/image" Target="../media/image3.png"/><Relationship Id="rIdTplHeader" Type="http://schemas.openxmlformats.org/officeDocument/2006/relationships/image" Target="../media/image2.png"/><Relationship Id="rIdImgArch" Type="http://schemas.openxmlformats.org/officeDocument/2006/relationships/image" Target="../media/architecture_diagram.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9.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0.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1.xml"/><Relationship Id="rIdTplFooter" Type="http://schemas.openxmlformats.org/officeDocument/2006/relationships/image" Target="../media/image3.png"/><Relationship Id="rIdTplHeader" Type="http://schemas.openxmlformats.org/officeDocument/2006/relationships/image" Target="../media/image2.png"/><Relationship Id="rIdImgTriage" Type="http://schemas.openxmlformats.org/officeDocument/2006/relationships/image" Target="../media/feature_start_triage.jpg"/><Relationship Id="rIdImgAyuda" Type="http://schemas.openxmlformats.org/officeDocument/2006/relationships/image" Target="../media/evacuation_relief_ayuda.jpg"/><Relationship Id="rIdImgAid" Type="http://schemas.openxmlformats.org/officeDocument/2006/relationships/image" Target="../media/feature_bayanihan_aid.jpg"/><Relationship Id="rIdImgBeacon" Type="http://schemas.openxmlformats.org/officeDocument/2006/relationships/image" Target="../media/feature_beacon_sos.jp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2.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3.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4.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5.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6.xml"/><Relationship Id="rIdTplFooter" Type="http://schemas.openxmlformats.org/officeDocument/2006/relationships/image" Target="../media/image3.png"/><Relationship Id="rIdTplThankYou" Type="http://schemas.openxmlformats.org/officeDocument/2006/relationships/image" Target="../media/image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pic>
        <p:nvPicPr>
          <p:cNvPr id="2" name="Google Shape;55;p13" title="Frame 144.png"/>
          <p:cNvPicPr preferRelativeResize="0"/>
          <p:nvPr/>
        </p:nvPicPr>
        <p:blipFill>
          <a:blip r:embed="rIdTplBanner"/>
          <a:stretch>
            <a:fillRect/>
          </a:stretch>
        </p:blipFill>
        <p:spPr>
          <a:xfrm>
            <a:off x="0" y="-3"/>
            <a:ext cx="9144000" cy="2715526"/>
          </a:xfrm>
          <a:prstGeom prst="rect">
            <a:avLst/>
          </a:prstGeom>
          <a:noFill/>
          <a:ln>
            <a:noFill/>
          </a:ln>
        </p:spPr>
      </p:pic>
      <p:pic>
        <p:nvPicPr>
          <p:cNvPr id="3" name="Google Shape;56;p13"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4" name="Google Shape;54;p13"/>
          <p:cNvSpPr txBox="1"/>
          <p:nvPr/>
        </p:nvSpPr>
        <p:spPr>
          <a:xfrm>
            <a:off x="265350" y="2850000"/>
            <a:ext cx="8600000" cy="2100000"/>
          </a:xfrm>
          <a:prstGeom prst="rect">
            <a:avLst/>
          </a:prstGeom>
          <a:noFill/>
          <a:ln>
            <a:noFill/>
          </a:ln>
        </p:spPr>
        <p:txBody>
          <a:bodyPr anchorCtr="0" anchor="t" bIns="91425" lIns="91425" spcFirstLastPara="1" rIns="91425" wrap="square" tIns="91425">
            <a:noAutofit/>
          </a:bodyPr>
          <a:lstStyle/>
          <a:p>
            <a:pPr indent="0" lvl="0" marL="0" rtl="0" algn="l">
              <a:buNone/>
            </a:pPr>
            <a:r>
              <a:rPr lang="en-GB" sz="2200">
                <a:solidFill>
                  <a:srgbClr val="111827"/>
                </a:solidFill>
                <a:latin typeface="Google Sans Flex SemiBold"/>
              </a:rPr>
              <a:t>Team Details</a:t>
            </a:r>
            <a:endParaRPr sz="2200">
              <a:latin typeface="Google Sans Flex SemiBold"/>
            </a:endParaRPr>
          </a:p>
          <a:p>
            <a:pPr indent="0" lvl="0" marL="0" rtl="0" algn="l">
              <a:spcBef>
                <a:spcPts val="60"/>
              </a:spcBef>
              <a:buNone/>
            </a:pPr>
            <a:r>
              <a:t/>
            </a:r>
            <a:endParaRPr sz="1000"/>
          </a:p>
          <a:p>
            <a:pPr indent="-342900" lvl="1" marL="914400" rtl="0" algn="l">
              <a:spcBef>
                <a:spcPts val="80"/>
              </a:spcBef>
              <a:buSzPts val="1600"/>
              <a:buFont typeface="Google Sans Flex"/>
              <a:buAutoNum type="alphaLcPeriod"/>
            </a:pPr>
            <a:r>
              <a:rPr lang="en-GB" sz="1600">
                <a:solidFill>
                  <a:srgbClr val="111827"/>
                </a:solidFill>
                <a:latin typeface="Google Sans Flex SemiBold"/>
              </a:rPr>
              <a:t>Team name: </a:t>
            </a:r>
            <a:r>
              <a:rPr lang="en-GB" sz="1600">
                <a:solidFill>
                  <a:srgbClr val="374151"/>
                </a:solidFill>
                <a:latin typeface="Google Sans Flex"/>
              </a:rPr>
              <a:t>Resilia Resilience Team</a:t>
            </a:r>
            <a:endParaRPr sz="1600">
              <a:latin typeface="Google Sans Flex"/>
            </a:endParaRPr>
          </a:p>
          <a:p>
            <a:pPr indent="-342900" lvl="1" marL="914400" rtl="0" algn="l">
              <a:spcBef>
                <a:spcPts val="60"/>
              </a:spcBef>
              <a:buSzPts val="1600"/>
              <a:buFont typeface="Google Sans Flex"/>
              <a:buAutoNum type="alphaLcPeriod"/>
            </a:pPr>
            <a:r>
              <a:rPr lang="en-GB" sz="1600">
                <a:solidFill>
                  <a:srgbClr val="111827"/>
                </a:solidFill>
                <a:latin typeface="Google Sans Flex SemiBold"/>
              </a:rPr>
              <a:t>Team leader name: </a:t>
            </a:r>
            <a:r>
              <a:rPr lang="en-GB" sz="1600">
                <a:solidFill>
                  <a:srgbClr val="374151"/>
                </a:solidFill>
                <a:latin typeface="Google Sans Flex"/>
              </a:rPr>
              <a:t>Christian Manito (Resilia Lead)</a:t>
            </a:r>
            <a:endParaRPr sz="1600">
              <a:latin typeface="Google Sans Flex"/>
            </a:endParaRPr>
          </a:p>
          <a:p>
            <a:pPr indent="-342900" lvl="1" marL="914400" rtl="0" algn="l">
              <a:spcBef>
                <a:spcPts val="60"/>
              </a:spcBef>
              <a:buSzPts val="1600"/>
              <a:buFont typeface="Google Sans Flex"/>
              <a:buAutoNum type="alphaLcPeriod"/>
            </a:pPr>
            <a:r>
              <a:rPr lang="en-GB" sz="1600">
                <a:solidFill>
                  <a:srgbClr val="111827"/>
                </a:solidFill>
                <a:latin typeface="Google Sans Flex SemiBold"/>
              </a:rPr>
              <a:t>Problem Statement: </a:t>
            </a:r>
            <a:r>
              <a:rPr lang="en-GB" sz="1500">
                <a:solidFill>
                  <a:srgbClr val="374151"/>
                </a:solidFill>
                <a:latin typeface="Google Sans Flex"/>
              </a:rPr>
              <a:t>AI for Disaster Risk Reduction &amp; Resilient Communities: Overcoming the 72-Hour Blackout Crisis in Typhoon &amp; Flood Disasters (UN SDG 11 &amp; SDG 13)</a:t>
            </a:r>
            <a:endParaRPr sz="1500">
              <a:latin typeface="Google Sans Flex"/>
            </a:endParaRPr>
          </a:p>
        </p:txBody>
      </p:sp>
    </p:spTree>
  </p:cSld>
  <p:clrMapOvr>
    <a:masterClrMapping/>
  </p:clrMapOvr>
</p:sld>
</file>

<file path=ppt\slides\slide2.xml><?xml version="1.0" encoding="UTF-8" standalone="yes"?>
<p:sld xmlns:a="http://schemas.openxmlformats.org/drawingml/2006/main" xmlns:r="http://schemas.openxmlformats.org/officeDocument/2006/relationships" xmlns:p="http://schemas.openxmlformats.org/presentationml/2006/main">
  <p:cSld>
    <p:spTree>
      <p:nvGrpSpPr><p:cNvPr id="10" name="Shape 10"/><p:cNvGrpSpPr/><p:nvPr/></p:nvGrpSpPr>
      <p:grpSpPr><a:xfrm><a:off x="0" y="0"/><a:ext cx="0" cy="0"/><a:chOff x="0" y="0"/><a:chExt cx="0" cy="0"/></a:xfrm></p:grpSpPr>
      <p:pic>
        <p:nvPicPr><p:cNvPr id="11" name="Google Shape;61;p14" title="Frame 144.png"/><p:cNvPicPr preferRelativeResize="0"/><p:nvPr/></p:nvPicPr>
        <p:blipFill rotWithShape="1"><a:blip r:embed="rIdTplFooter"/><a:srcRect b="98001" l="0" r="0" t="0"/><a:stretch/></p:blipFill>
        <p:spPr><a:xfrm><a:off x="0" y="5093562"/><a:ext cx="9144000" cy="54275"/></a:xfrm><a:prstGeom prst="rect"><a:avLst/></a:prstGeom><a:noFill/><a:ln><a:noFill/></a:ln></p:spPr>
      </p:pic>
      <p:sp>
        <p:nvSpPr><p:cNvPr id="12" name="Google Shape;62;p14"/><p:cNvSpPr/><p:nvPr/></p:nvPr>
        <p:spPr><a:xfrm><a:off x="0" y="0"/><a:ext cx="9144000" cy="5143500"/></a:xfrm><a:prstGeom prst="rect"><a:avLst/></a:prstGeom><a:solidFill><a:schemeClr val="dk1"/></a:solidFill><a:ln><a:noFill/></a:ln></p:spPr>
        <p:txBody><a:bodyPr anchorCtr="0" anchor="ctr" bIns="91425" lIns="91425" spcFirstLastPara="1" rIns="91425" wrap="square" tIns="91425"><a:noAutofit/></a:bodyPr><a:lstStyle/><a:p><a:pPr indent="0" lvl="0" marL="0" rtl="0" algn="ctr"><a:buNone/></a:pPr><a:r><a:t></a:t></a:r><a:endParaRPr/></a:p></p:txBody>
      </p:sp>
      <p:sp>
        <p:nvSpPr><p:cNvPr id="13" name="Google Shape;63;p14"/><p:cNvSpPr txBox="1"/><p:nvPr/></p:nvSpPr>
        <p:spPr><a:xfrm><a:off x="5092475" y="1968750"/><a:ext cx="3311400" cy="1206000"/></a:xfrm><a:prstGeom prst="rect"><a:avLst/></a:prstGeom><a:noFill/><a:ln><a:noFill/></a:ln></p:spPr>
        <p:txBody>
          <a:bodyPr anchorCtr="0" anchor="t" bIns="91425" lIns="91425" spcFirstLastPara="1" rIns="91425" wrap="square" tIns="91425"><a:noAutofit/></a:bodyPr>
          <a:lstStyle/>
          <a:p>
            <a:pPr indent="0" lvl="0" marL="0" rtl="0" algn="l"><a:buNone/></a:pPr>
            <a:r><a:rPr lang="en-GB" sz="1100"><a:solidFill><a:schemeClr val="lt1"/></a:solidFill><a:latin typeface="Google Sans Flex Medium"/></a:rPr><a:t>Note:</a:t></a:r>
            <a:r><a:rPr lang="en-GB" sz="1100"><a:solidFill><a:schemeClr val="lt1"/></a:solidFill><a:latin typeface="Google Sans Flex"/></a:rPr><a:t> Please download this template to make your edits and submit the final version.</a:t></a:r>
          </a:p>
          <a:p><a:pPr indent="0" lvl="0" marL="0" rtl="0" algn="l"><a:spcBef><a:spcPts val="60"/></a:spcBef><a:buNone/></a:pPr><a:r><a:t></a:t></a:r><a:endParaRPr sz="1100"/></a:p>
          <a:p>
            <a:pPr indent="0" lvl="0" marL="0" rtl="0" algn="l"><a:buNone/></a:pPr>
            <a:r><a:rPr lang="en-GB" sz="1100"><a:solidFill><a:schemeClr val="lt1"/></a:solidFill><a:latin typeface="Google Sans Flex"/></a:rPr><a:t>To download, go to File &gt; Download &gt; Microsoft PowerPoint (.PPTX). Kindly refrain from sending edit requests.</a:t></a:r>
            <a:endParaRPr sz="1100"><a:solidFill><a:schemeClr val="lt1"/></a:solidFill><a:latin typeface="Google Sans Flex"/></a:endParaRPr>
          </a:p>
        </p:txBody>
      </p:sp>
      <p:pic>
        <p:nvPicPr><p:cNvPr id="14" name="Google Shape;64;p14"/><p:cNvPicPr preferRelativeResize="0"/><p:nvPr/></p:nvPicPr>
        <p:blipFill><a:blip r:embed="rIdTplDownload"/><a:stretch><a:fillRect/></a:stretch></p:blipFill>
        <p:spPr><a:xfrm><a:off x="924203" y="1194675"/><a:ext cx="3604250" cy="2621725"/></a:xfrm><a:prstGeom prst="rect"><a:avLst/></a:prstGeom><a:noFill/><a:ln><a:noFill/></a:ln></p:spPr>
      </p:pic>
    </p:spTree>
  </p:cSld>
  <p:clrMapOvr><a:masterClrMapping/></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3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3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3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3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Brief about the idea</a:t>
            </a:r>
            <a:endParaRPr sz="1800">
              <a:latin typeface="Google Sans Flex SemiBold"/>
            </a:endParaRPr>
          </a:p>
          <a:p>
            <a:pPr indent="0" lvl="0" marL="0" rtl="0" algn="l">
              <a:spcBef>
                <a:spcPts val="40"/>
              </a:spcBef>
              <a:buNone/>
            </a:pPr>
            <a:r>
              <a:rPr lang="en-GB" sz="1100">
                <a:solidFill>
                  <a:srgbClr val="4B5563"/>
                </a:solidFill>
                <a:latin typeface="Google Sans Flex"/>
              </a:rPr>
              <a:t>AI-Assisted Community Disaster Coordination Operating Under Severe Network Degradation</a:t>
            </a:r>
            <a:endParaRPr sz="1100">
              <a:latin typeface="Google Sans Flex"/>
            </a:endParaRPr>
          </a:p>
        </p:txBody>
      </p:sp>
      <p:sp>
        <p:nvSpPr>
          <p:cNvPr id="13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The 72-Hour Blackout Crisis: </a:t>
            </a:r>
            <a:r>
              <a:rPr lang="en-GB" sz="1200" b="0" i="0">
                <a:solidFill>
                  <a:srgbClr val="374151"/>
                </a:solidFill>
                <a:latin typeface="Google Sans Flex"/>
                <a:ea typeface="Google Sans Flex"/>
                <a:cs typeface="Google Sans Flex"/>
                <a:sym typeface="Google Sans Flex"/>
              </a:rPr>
              <a:t>Climate disasters knock out power grids and cellular infrastructure in vulnerable coastal river basins (modeled on the Marikina River). Conventional cloud-only tools fail with blank loading spinners during the critical first 72 hours.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Hybrid Dual-Engine AI Architecture: </a:t>
            </a:r>
            <a:r>
              <a:rPr lang="en-GB" sz="1200" b="0" i="0">
                <a:solidFill>
                  <a:srgbClr val="374151"/>
                </a:solidFill>
                <a:latin typeface="Google Sans Flex"/>
                <a:ea typeface="Google Sans Flex"/>
                <a:cs typeface="Google Sans Flex"/>
                <a:sym typeface="Google Sans Flex"/>
              </a:rPr>
              <a:t>Combines Google Gemini 3.8 Flash in the cloud for deep situational reasoning and macro clustering with zero-overhead client IndexedDB edge persistence (15 stores) and deterministic local algorithms when connectivity drops.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Tri-Role Community Coordination: </a:t>
            </a:r>
            <a:r>
              <a:rPr lang="en-GB" sz="1200" b="0" i="0">
                <a:solidFill>
                  <a:srgbClr val="374151"/>
                </a:solidFill>
                <a:latin typeface="Google Sans Flex"/>
                <a:ea typeface="Google Sans Flex"/>
                <a:cs typeface="Google Sans Flex"/>
                <a:sym typeface="Google Sans Flex"/>
              </a:rPr>
              <a:t>Tailored, low-friction mobile workflows for Residents (instant SOS beacon &amp; shelter locator), Responders (START casualty triage &amp; QR wristbands), and Coordinators (shelter capacity &amp; cryptographic dispatch gate) operating with zero active internet.</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Anti-Hallucination Emergency Safety: </a:t>
            </a:r>
            <a:r>
              <a:rPr lang="en-GB" sz="1200" b="0" i="0">
                <a:solidFill>
                  <a:srgbClr val="374151"/>
                </a:solidFill>
                <a:latin typeface="Google Sans Flex"/>
                <a:ea typeface="Google Sans Flex"/>
                <a:cs typeface="Google Sans Flex"/>
                <a:sym typeface="Google Sans Flex"/>
              </a:rPr>
              <a:t>Deterministic safety boundaries grounded strictly in Philippine NDRRMC and DOH disaster SOPs, requiring human coordinator cryptographic authorization for emergency dispatches.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Rigorous Verification Baseline: </a:t>
            </a:r>
            <a:r>
              <a:rPr lang="en-GB" sz="1200" b="0" i="0">
                <a:solidFill>
                  <a:srgbClr val="374151"/>
                </a:solidFill>
                <a:latin typeface="Google Sans Flex"/>
                <a:ea typeface="Google Sans Flex"/>
                <a:cs typeface="Google Sans Flex"/>
                <a:sym typeface="Google Sans Flex"/>
              </a:rPr>
              <a:t>Evaluated against simulated Marikina River Basin telemetry (Typhoon Ondoy / Ulysses baselines, Alarm Level 3 at 18m water depth) backed by automated test validation.</a:t>
            </a:r>
            <a:endParaRPr sz="1250">
              <a:latin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4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4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4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4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Opportunities</a:t>
            </a:r>
            <a:endParaRPr sz="1800">
              <a:latin typeface="Google Sans Flex SemiBold"/>
            </a:endParaRPr>
          </a:p>
          <a:p>
            <a:pPr indent="0" lvl="0" marL="0" rtl="0" algn="l">
              <a:spcBef>
                <a:spcPts val="40"/>
              </a:spcBef>
              <a:buNone/>
            </a:pPr>
            <a:r>
              <a:rPr lang="en-GB" sz="1100">
                <a:solidFill>
                  <a:srgbClr val="4B5563"/>
                </a:solidFill>
                <a:latin typeface="Google Sans Flex"/>
              </a:rPr>
              <a:t>Addressing Critical Gaps in Existing Disaster Technologies</a:t>
            </a:r>
            <a:endParaRPr sz="1100">
              <a:latin typeface="Google Sans Flex"/>
            </a:endParaRPr>
          </a:p>
        </p:txBody>
      </p:sp>
      <p:sp>
        <p:nvSpPr>
          <p:cNvPr id="144" name="Content_Opportunities"/>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40"/>
              </a:spcBef>
              <a:spcAft>
                <a:spcPts val="30"/>
              </a:spcAft>
              <a:buSzPts val="1350"/>
              <a:buFont typeface="Google Sans Flex"/>
              <a:buChar char="●"/>
            </a:pPr>
            <a:r>
              <a:rPr lang="en-GB" sz="1350" b="1" i="0">
                <a:solidFill>
                  <a:srgbClr val="111827"/>
                </a:solidFill>
                <a:latin typeface="Google Sans Flex SemiBold"/>
                <a:ea typeface="Google Sans Flex SemiBold"/>
                <a:cs typeface="Google Sans Flex SemiBold"/>
                <a:sym typeface="Google Sans Flex SemiBold"/>
              </a:rPr>
              <a:t>How different is it from any of the other existing ideas?</a:t>
            </a:r>
            <a:endParaRPr sz="13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Local-First Edge Durability: </a:t>
            </a:r>
            <a:r>
              <a:rPr lang="en-GB" sz="1200" b="0" i="0">
                <a:solidFill>
                  <a:srgbClr val="374151"/>
                </a:solidFill>
                <a:latin typeface="Google Sans Flex"/>
                <a:ea typeface="Google Sans Flex"/>
                <a:cs typeface="Google Sans Flex"/>
                <a:sym typeface="Google Sans Flex"/>
              </a:rPr>
              <a:t>Unlike cloud-only disaster apps that stall with spinners when cell towers flood, Resilia operates via local browser caching for degraded networks with sub-15ms write latency.</a:t>
            </a:r>
            <a:endParaRPr sz="1250">
              <a:latin typeface="Google Sans Flex"/>
            </a:endParaRPr>
          </a:p>
          <a:p>
            <a:pPr indent="-311150" lvl="0" marL="457200" rtl="0" algn="l">
              <a:spcBef>
                <a:spcPts val="20"/>
              </a:spcBef>
              <a:spcAft>
                <a:spcPts val="4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Role-Tailored Ground Operations: </a:t>
            </a:r>
            <a:r>
              <a:rPr lang="en-GB" sz="1200" b="0" i="0">
                <a:solidFill>
                  <a:srgbClr val="374151"/>
                </a:solidFill>
                <a:latin typeface="Google Sans Flex"/>
                <a:ea typeface="Google Sans Flex"/>
                <a:cs typeface="Google Sans Flex"/>
                <a:sym typeface="Google Sans Flex"/>
              </a:rPr>
              <a:t>Dedicated cockpits for Residents, Responders, and Coordinators instead of generic forms, preventing operational friction during mass evacuations.</a:t>
            </a:r>
            <a:endParaRPr sz="1250">
              <a:latin typeface="Google Sans Flex"/>
            </a:endParaRPr>
          </a:p>
          <a:p>
            <a:pPr indent="-311150" lvl="0" marL="457200" rtl="0" algn="l">
              <a:spcBef>
                <a:spcPts val="40"/>
              </a:spcBef>
              <a:spcAft>
                <a:spcPts val="30"/>
              </a:spcAft>
              <a:buSzPts val="1350"/>
              <a:buFont typeface="Google Sans Flex"/>
              <a:buChar char="●"/>
            </a:pPr>
            <a:r>
              <a:rPr lang="en-GB" sz="1350" b="1" i="0">
                <a:solidFill>
                  <a:srgbClr val="111827"/>
                </a:solidFill>
                <a:latin typeface="Google Sans Flex SemiBold"/>
                <a:ea typeface="Google Sans Flex SemiBold"/>
                <a:cs typeface="Google Sans Flex SemiBold"/>
                <a:sym typeface="Google Sans Flex SemiBold"/>
              </a:rPr>
              <a:t>How will it be able to solve the problem?</a:t>
            </a:r>
            <a:endParaRPr sz="13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Sub-Second Local Logging: </a:t>
            </a:r>
            <a:r>
              <a:rPr lang="en-GB" sz="1200" b="0" i="0">
                <a:solidFill>
                  <a:srgbClr val="374151"/>
                </a:solidFill>
                <a:latin typeface="Google Sans Flex"/>
                <a:ea typeface="Google Sans Flex"/>
                <a:cs typeface="Google Sans Flex"/>
                <a:sym typeface="Google Sans Flex"/>
              </a:rPr>
              <a:t>Citizen reports commit instantly to device storage and queue for automatic sync the moment an uplink blinks on.</a:t>
            </a:r>
            <a:endParaRPr sz="12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Transparent Vulnerability Scoring: </a:t>
            </a:r>
            <a:r>
              <a:rPr lang="en-GB" sz="1200" b="0" i="0">
                <a:solidFill>
                  <a:srgbClr val="374151"/>
                </a:solidFill>
                <a:latin typeface="Google Sans Flex"/>
                <a:ea typeface="Google Sans Flex"/>
                <a:cs typeface="Google Sans Flex"/>
                <a:sym typeface="Google Sans Flex"/>
              </a:rPr>
              <a:t>Prioritizes bedridden seniors, infants, and chronic medical cases over first-come-first-served queues.</a:t>
            </a:r>
            <a:endParaRPr sz="1250">
              <a:latin typeface="Google Sans Flex"/>
            </a:endParaRPr>
          </a:p>
          <a:p>
            <a:pPr indent="-311150" lvl="0" marL="457200" rtl="0" algn="l">
              <a:spcBef>
                <a:spcPts val="20"/>
              </a:spcBef>
              <a:spcAft>
                <a:spcPts val="4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Tamper-Resistant Ayuda QR Ledger: </a:t>
            </a:r>
            <a:r>
              <a:rPr lang="en-GB" sz="1200" b="0" i="0">
                <a:solidFill>
                  <a:srgbClr val="374151"/>
                </a:solidFill>
                <a:latin typeface="Google Sans Flex"/>
                <a:ea typeface="Google Sans Flex"/>
                <a:cs typeface="Google Sans Flex"/>
                <a:sym typeface="Google Sans Flex"/>
              </a:rPr>
              <a:t>24-hour distribution cooldown timer prevents duplicate claims and relief hoarding in chaotic shelters.</a:t>
            </a:r>
            <a:endParaRPr sz="1250">
              <a:latin typeface="Google Sans Flex"/>
            </a:endParaRPr>
          </a:p>
          <a:p>
            <a:pPr indent="-311150" lvl="0" marL="457200" rtl="0" algn="l">
              <a:spcBef>
                <a:spcPts val="40"/>
              </a:spcBef>
              <a:spcAft>
                <a:spcPts val="30"/>
              </a:spcAft>
              <a:buSzPts val="1350"/>
              <a:buFont typeface="Google Sans Flex"/>
              <a:buChar char="●"/>
            </a:pPr>
            <a:r>
              <a:rPr lang="en-GB" sz="1350" b="1" i="0">
                <a:solidFill>
                  <a:srgbClr val="111827"/>
                </a:solidFill>
                <a:latin typeface="Google Sans Flex SemiBold"/>
                <a:ea typeface="Google Sans Flex SemiBold"/>
                <a:cs typeface="Google Sans Flex SemiBold"/>
                <a:sym typeface="Google Sans Flex SemiBold"/>
              </a:rPr>
              <a:t>USP of the proposed solution</a:t>
            </a:r>
            <a:endParaRPr sz="13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Adaptive Dual-Engine AI Continuum: </a:t>
            </a:r>
            <a:r>
              <a:rPr lang="en-GB" sz="1200" b="0" i="0">
                <a:solidFill>
                  <a:srgbClr val="374151"/>
                </a:solidFill>
                <a:latin typeface="Google Sans Flex"/>
                <a:ea typeface="Google Sans Flex"/>
                <a:cs typeface="Google Sans Flex"/>
                <a:sym typeface="Google Sans Flex"/>
              </a:rPr>
              <a:t>Unifies Google Gemini 3.8 Flash in the cloud for macro situation synthesis with zero-spend deterministic edge execution when connectivity is completely severed.</a:t>
            </a:r>
            <a:endParaRPr sz="1250">
              <a:latin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5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5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5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5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List of features offered by the solution</a:t>
            </a:r>
            <a:endParaRPr sz="1800">
              <a:latin typeface="Google Sans Flex SemiBold"/>
            </a:endParaRPr>
          </a:p>
          <a:p>
            <a:pPr indent="0" lvl="0" marL="0" rtl="0" algn="l">
              <a:spcBef>
                <a:spcPts val="40"/>
              </a:spcBef>
              <a:buNone/>
            </a:pPr>
            <a:r>
              <a:rPr lang="en-GB" sz="1100">
                <a:solidFill>
                  <a:srgbClr val="4B5563"/>
                </a:solidFill>
                <a:latin typeface="Google Sans Flex"/>
              </a:rPr>
              <a:t>Seven Built Community Modules for Philippine Ground Realities</a:t>
            </a:r>
            <a:endParaRPr sz="1100">
              <a:latin typeface="Google Sans Flex"/>
            </a:endParaRPr>
          </a:p>
        </p:txBody>
      </p:sp>
      <p:sp>
        <p:nvSpPr>
          <p:cNvPr id="15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1. Emergency Survival Beacon ('Find Me'): </a:t>
            </a:r>
            <a:r>
              <a:rPr lang="en-GB" sz="1200" b="0" i="0">
                <a:solidFill>
                  <a:srgbClr val="374151"/>
                </a:solidFill>
                <a:latin typeface="Google Sans Flex"/>
                <a:ea typeface="Google Sans Flex"/>
                <a:cs typeface="Google Sans Flex"/>
                <a:sym typeface="Google Sans Flex"/>
              </a:rPr>
              <a:t>High-contrast OLED dark Morse SOS strobe with GPS coordinate broadcaster</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2. START Field Triage &amp; Rapid QR Wristbands: </a:t>
            </a:r>
            <a:r>
              <a:rPr lang="en-GB" sz="1200" b="0" i="0">
                <a:solidFill>
                  <a:srgbClr val="374151"/>
                </a:solidFill>
                <a:latin typeface="Google Sans Flex"/>
                <a:ea typeface="Google Sans Flex"/>
                <a:cs typeface="Google Sans Flex"/>
                <a:sym typeface="Google Sans Flex"/>
              </a:rPr>
              <a:t>Standardized Simple Triage and Rapid Treatment with client barcodes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3. Tamper-Resistant 'Ayuda' QR Ration Ledger: </a:t>
            </a:r>
            <a:r>
              <a:rPr lang="en-GB" sz="1200" b="0" i="0">
                <a:solidFill>
                  <a:srgbClr val="374151"/>
                </a:solidFill>
                <a:latin typeface="Google Sans Flex"/>
                <a:ea typeface="Google Sans Flex"/>
                <a:cs typeface="Google Sans Flex"/>
                <a:sym typeface="Google Sans Flex"/>
              </a:rPr>
              <a:t>24h distribution cooldown stops duplicate claims; auto-deducts inventory</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4. Missing Kin &amp; Family Reunification: </a:t>
            </a:r>
            <a:r>
              <a:rPr lang="en-GB" sz="1200" b="0" i="0">
                <a:solidFill>
                  <a:srgbClr val="374151"/>
                </a:solidFill>
                <a:latin typeface="Google Sans Flex"/>
                <a:ea typeface="Google Sans Flex"/>
                <a:cs typeface="Google Sans Flex"/>
                <a:sym typeface="Google Sans Flex"/>
              </a:rPr>
              <a:t>Privacy-preserving shelter bulletin with fuzzy search and masked contact numbers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5. Special Needs Shelter Matrix: </a:t>
            </a:r>
            <a:r>
              <a:rPr lang="en-GB" sz="1200" b="0" i="0">
                <a:solidFill>
                  <a:srgbClr val="374151"/>
                </a:solidFill>
                <a:latin typeface="Google Sans Flex"/>
                <a:ea typeface="Google Sans Flex"/>
                <a:cs typeface="Google Sans Flex"/>
                <a:sym typeface="Google Sans Flex"/>
              </a:rPr>
              <a:t>Live status of wheelchair ramps, lactating stations, dialysis support, and generator fuel</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6. 'Bayanihan' Community Mutual Aid Board: </a:t>
            </a:r>
            <a:r>
              <a:rPr lang="en-GB" sz="1200" b="0" i="0">
                <a:solidFill>
                  <a:srgbClr val="374151"/>
                </a:solidFill>
                <a:latin typeface="Google Sans Flex"/>
                <a:ea typeface="Google Sans Flex"/>
                <a:cs typeface="Google Sans Flex"/>
                <a:sym typeface="Google Sans Flex"/>
              </a:rPr>
              <a:t>Peer-to-peer power bank charging, medicine exchange, and transport sharing</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7. Water Safety &amp; Leptospirosis Outbreak Watch: </a:t>
            </a:r>
            <a:r>
              <a:rPr lang="en-GB" sz="1200" b="0" i="0">
                <a:solidFill>
                  <a:srgbClr val="374151"/>
                </a:solidFill>
                <a:latin typeface="Google Sans Flex"/>
                <a:ea typeface="Google Sans Flex"/>
                <a:cs typeface="Google Sans Flex"/>
                <a:sym typeface="Google Sans Flex"/>
              </a:rPr>
              <a:t>DOH-grounded rolling boil water guide &amp; 72h prophylaxis exposure countdown</a:t>
            </a:r>
            <a:endParaRPr sz="1250">
              <a:latin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6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6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6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6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Process flow diagram or Use-case diagram</a:t>
            </a:r>
            <a:endParaRPr sz="1800">
              <a:latin typeface="Google Sans Flex SemiBold"/>
            </a:endParaRPr>
          </a:p>
          <a:p>
            <a:pPr indent="0" lvl="0" marL="0" rtl="0" algn="l">
              <a:spcBef>
                <a:spcPts val="40"/>
              </a:spcBef>
              <a:buNone/>
            </a:pPr>
            <a:r>
              <a:rPr lang="en-GB" sz="1100">
                <a:solidFill>
                  <a:srgbClr val="4B5563"/>
                </a:solidFill>
                <a:latin typeface="Google Sans Flex"/>
              </a:rPr>
              <a:t>End-to-End Emergency Lifecycle: Incident Ingestion, AI Triage, Dispatch, and Resolution</a:t>
            </a:r>
            <a:endParaRPr sz="1100">
              <a:latin typeface="Google Sans Flex"/>
            </a:endParaRPr>
          </a:p>
        </p:txBody>
      </p:sp>
      <p:pic>
        <p:nvPicPr>
          <p:cNvPr id="164" name="Img_ProcessFlow" title="process_flow_diagram.png"/>
          <p:cNvPicPr preferRelativeResize="0"/>
          <p:nvPr/>
        </p:nvPicPr>
        <p:blipFill>
          <a:blip r:embed="rIdImgProcessFlow"/>
          <a:stretch>
            <a:fillRect/>
          </a:stretch>
        </p:blipFill>
        <p:spPr>
          <a:xfrm>
            <a:off x="572000" y="1420000"/>
            <a:ext cx="8000000" cy="3520000"/>
          </a:xfrm>
          <a:prstGeom prst="rect">
            <a:avLst/>
          </a:prstGeom>
          <a:noFill/>
          <a:ln w="12700">
            <a:solidFill>
              <a:srgbClr val="CBD5E1"/>
            </a:solid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7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7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7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7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Wireframes/Mock diagrams of the proposed solution (optional)</a:t>
            </a:r>
            <a:endParaRPr sz="1800">
              <a:latin typeface="Google Sans Flex SemiBold"/>
            </a:endParaRPr>
          </a:p>
          <a:p>
            <a:pPr indent="0" lvl="0" marL="0" rtl="0" algn="l">
              <a:spcBef>
                <a:spcPts val="40"/>
              </a:spcBef>
              <a:buNone/>
            </a:pPr>
            <a:r>
              <a:rPr lang="en-GB" sz="1100">
                <a:solidFill>
                  <a:srgbClr val="4B5563"/>
                </a:solidFill>
                <a:latin typeface="Google Sans Flex"/>
              </a:rPr>
              <a:t>Role-Based Mobile Interfaces: Resident, Responder, and Coordinator</a:t>
            </a:r>
            <a:endParaRPr sz="1100">
              <a:latin typeface="Google Sans Flex"/>
            </a:endParaRPr>
          </a:p>
        </p:txBody>
      </p:sp>
      <!-- Phone 1: Resident -->
      <p:pic>
        <p:nvPicPr>
          <p:cNvPr id="174" name="Img_Resident" title="resilia_phone_resident.jpg"/>
          <p:cNvPicPr preferRelativeResize="0"/>
          <p:nvPr/>
        </p:nvPicPr>
        <p:blipFill>
          <a:blip r:embed="rIdImgResident"/>
          <a:stretch>
            <a:fillRect/>
          </a:stretch>
        </p:blipFill>
        <p:spPr>
          <a:xfrm>
            <a:off x="500000" y="1450000"/>
            <a:ext cx="2500000" cy="3000000"/>
          </a:xfrm>
          <a:prstGeom prst="rect">
            <a:avLst/>
          </a:prstGeom>
          <a:noFill/>
          <a:ln w="12700">
            <a:solidFill>
              <a:srgbClr val="E2E8F0"/>
            </a:solidFill>
          </a:ln>
        </p:spPr>
      </p:pic>
      <p:sp>
        <p:nvSpPr>
          <p:cNvPr id="175" name="Label_Resident"/>
          <p:cNvSpPr txBox="1"/>
          <p:nvPr/>
        </p:nvSpPr>
        <p:spPr>
          <a:xfrm>
            <a:off x="500000" y="4500000"/>
            <a:ext cx="2500000" cy="450000"/>
          </a:xfrm>
          <a:prstGeom prst="rect">
            <a:avLst/>
          </a:prstGeom>
          <a:noFill/>
          <a:ln>
            <a:noFill/>
          </a:ln>
        </p:spPr>
        <p:txBody>
          <a:bodyPr anchor="t" anchorCtr="0"/>
          <a:lstStyle/>
          <a:p>
            <a:pPr algn="ctr">
              <a:buNone/>
            </a:pPr>
            <a:r>
              <a:rPr lang="en-GB" sz="1150" b="1">
                <a:solidFill>
                  <a:srgbClr val="111827"/>
                </a:solidFill>
                <a:latin typeface="Google Sans Flex SemiBold"/>
              </a:rPr>
              <a:t>Resident Mobile Interface</a:t>
            </a:r>
          </a:p>
          <a:p>
            <a:pPr algn="ctr">
              <a:spcBef>
                <a:spcPts val="20"/>
              </a:spcBef>
              <a:buNone/>
            </a:pPr>
            <a:r>
              <a:rPr lang="en-GB" sz="1000">
                <a:solidFill>
                  <a:srgbClr val="4B5563"/>
                </a:solidFill>
                <a:latin typeface="Google Sans Flex"/>
              </a:rPr>
              <a:t>Action Cockpit, SOS Strobe, Go-Bag</a:t>
            </a:r>
          </a:p>
        </p:txBody>
      </p:sp>
      <!-- Phone 2: Responder -->
      <p:pic>
        <p:nvPicPr>
          <p:cNvPr id="176" name="Img_Responder" title="resilia_phone_responder.jpg"/>
          <p:cNvPicPr preferRelativeResize="0"/>
          <p:nvPr/>
        </p:nvPicPr>
        <p:blipFill>
          <a:blip r:embed="rIdImgResponder"/>
          <a:stretch>
            <a:fillRect/>
          </a:stretch>
        </p:blipFill>
        <p:spPr>
          <a:xfrm>
            <a:off x="3380000" y="1450000"/>
            <a:ext cx="2500000" cy="3000000"/>
          </a:xfrm>
          <a:prstGeom prst="rect">
            <a:avLst/>
          </a:prstGeom>
          <a:noFill/>
          <a:ln w="12700">
            <a:solidFill>
              <a:srgbClr val="E2E8F0"/>
            </a:solidFill>
          </a:ln>
        </p:spPr>
      </p:pic>
      <p:sp>
        <p:nvSpPr>
          <p:cNvPr id="177" name="Label_Responder"/>
          <p:cNvSpPr txBox="1"/>
          <p:nvPr/>
        </p:nvSpPr>
        <p:spPr>
          <a:xfrm>
            <a:off x="3380000" y="4500000"/>
            <a:ext cx="2500000" cy="450000"/>
          </a:xfrm>
          <a:prstGeom prst="rect">
            <a:avLst/>
          </a:prstGeom>
          <a:noFill/>
          <a:ln>
            <a:noFill/>
          </a:ln>
        </p:spPr>
        <p:txBody>
          <a:bodyPr anchor="t" anchorCtr="0"/>
          <a:lstStyle/>
          <a:p>
            <a:pPr algn="ctr">
              <a:buNone/>
            </a:pPr>
            <a:r>
              <a:rPr lang="en-GB" sz="1150" b="1">
                <a:solidFill>
                  <a:srgbClr val="111827"/>
                </a:solidFill>
                <a:latin typeface="Google Sans Flex SemiBold"/>
              </a:rPr>
              <a:t>Responder Mission Cockpit</a:t>
            </a:r>
          </a:p>
          <a:p>
            <a:pPr algn="ctr">
              <a:spcBef>
                <a:spcPts val="20"/>
              </a:spcBef>
              <a:buNone/>
            </a:pPr>
            <a:r>
              <a:rPr lang="en-GB" sz="1000">
                <a:solidFill>
                  <a:srgbClr val="4B5563"/>
                </a:solidFill>
                <a:latin typeface="Google Sans Flex"/>
              </a:rPr>
              <a:t>Priority Triage, GPS, QR Wristbands</a:t>
            </a:r>
          </a:p>
        </p:txBody>
      </p:sp>
      <!-- Phone 3: Coordinator -->
      <p:pic>
        <p:nvPicPr>
          <p:cNvPr id="178" name="Img_Coordinator" title="resilia_phone_coordinator.jpg"/>
          <p:cNvPicPr preferRelativeResize="0"/>
          <p:nvPr/>
        </p:nvPicPr>
        <p:blipFill>
          <a:blip r:embed="rIdImgCoordinator"/>
          <a:stretch>
            <a:fillRect/>
          </a:stretch>
        </p:blipFill>
        <p:spPr>
          <a:xfrm>
            <a:off x="6260000" y="1450000"/>
            <a:ext cx="2500000" cy="3000000"/>
          </a:xfrm>
          <a:prstGeom prst="rect">
            <a:avLst/>
          </a:prstGeom>
          <a:noFill/>
          <a:ln w="12700">
            <a:solidFill>
              <a:srgbClr val="E2E8F0"/>
            </a:solidFill>
          </a:ln>
        </p:spPr>
      </p:pic>
      <p:sp>
        <p:nvSpPr>
          <p:cNvPr id="179" name="Label_Coordinator"/>
          <p:cNvSpPr txBox="1"/>
          <p:nvPr/>
        </p:nvSpPr>
        <p:spPr>
          <a:xfrm>
            <a:off x="6260000" y="4500000"/>
            <a:ext cx="2500000" cy="450000"/>
          </a:xfrm>
          <a:prstGeom prst="rect">
            <a:avLst/>
          </a:prstGeom>
          <a:noFill/>
          <a:ln>
            <a:noFill/>
          </a:ln>
        </p:spPr>
        <p:txBody>
          <a:bodyPr anchor="t" anchorCtr="0"/>
          <a:lstStyle/>
          <a:p>
            <a:pPr algn="ctr">
              <a:buNone/>
            </a:pPr>
            <a:r>
              <a:rPr lang="en-GB" sz="1150" b="1">
                <a:solidFill>
                  <a:srgbClr val="111827"/>
                </a:solidFill>
                <a:latin typeface="Google Sans Flex SemiBold"/>
              </a:rPr>
              <a:t>Coordinator Operations Center</a:t>
            </a:r>
          </a:p>
          <a:p>
            <a:pPr algn="ctr">
              <a:spcBef>
                <a:spcPts val="20"/>
              </a:spcBef>
              <a:buNone/>
            </a:pPr>
            <a:r>
              <a:rPr lang="en-GB" sz="1000">
                <a:solidFill>
                  <a:srgbClr val="4B5563"/>
                </a:solidFill>
                <a:latin typeface="Google Sans Flex"/>
              </a:rPr>
              <a:t>Telemetry Truth &amp; Human Dispatch Gate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8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8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8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8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Architecture diagram of the proposed solution</a:t>
            </a:r>
            <a:endParaRPr sz="1800">
              <a:latin typeface="Google Sans Flex SemiBold"/>
            </a:endParaRPr>
          </a:p>
          <a:p>
            <a:pPr indent="0" lvl="0" marL="0" rtl="0" algn="l">
              <a:spcBef>
                <a:spcPts val="40"/>
              </a:spcBef>
              <a:buNone/>
            </a:pPr>
            <a:r>
              <a:rPr lang="en-GB" sz="1100">
                <a:solidFill>
                  <a:srgbClr val="4B5563"/>
                </a:solidFill>
                <a:latin typeface="Google Sans Flex"/>
              </a:rPr>
              <a:t>Hybrid Dual-Engine Architecture: Google Cloud Platform + Resilient Edge Runtime</a:t>
            </a:r>
            <a:endParaRPr sz="1100">
              <a:latin typeface="Google Sans Flex"/>
            </a:endParaRPr>
          </a:p>
        </p:txBody>
      </p:sp>
      <p:pic>
        <p:nvPicPr>
          <p:cNvPr id="184" name="Img_Architecture" title="architecture_diagram.png"/>
          <p:cNvPicPr preferRelativeResize="0"/>
          <p:nvPr/>
        </p:nvPicPr>
        <p:blipFill>
          <a:blip r:embed="rIdImgArch"/>
          <a:stretch>
            <a:fillRect/>
          </a:stretch>
        </p:blipFill>
        <p:spPr>
          <a:xfrm>
            <a:off x="572000" y="1420000"/>
            <a:ext cx="8000000" cy="3520000"/>
          </a:xfrm>
          <a:prstGeom prst="rect">
            <a:avLst/>
          </a:prstGeom>
          <a:noFill/>
          <a:ln w="12700">
            <a:solidFill>
              <a:srgbClr val="CBD5E1"/>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9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9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9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9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Technologies to be used in the solution</a:t>
            </a:r>
            <a:endParaRPr sz="1800">
              <a:latin typeface="Google Sans Flex SemiBold"/>
            </a:endParaRPr>
          </a:p>
          <a:p>
            <a:pPr indent="0" lvl="0" marL="0" rtl="0" algn="l">
              <a:spcBef>
                <a:spcPts val="40"/>
              </a:spcBef>
              <a:buNone/>
            </a:pPr>
            <a:r>
              <a:rPr lang="en-GB" sz="1100">
                <a:solidFill>
                  <a:srgbClr val="4B5563"/>
                </a:solidFill>
                <a:latin typeface="Google Sans Flex"/>
              </a:rPr>
              <a:t>Google Cloud Platform, Modern Edge Runtime, and Mobile Web Technologies</a:t>
            </a:r>
            <a:endParaRPr sz="1100">
              <a:latin typeface="Google Sans Flex"/>
            </a:endParaRPr>
          </a:p>
        </p:txBody>
      </p:sp>
      <p:sp>
        <p:nvSpPr>
          <p:cNvPr id="19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Google Cloud &amp; AI: </a:t>
            </a:r>
            <a:r>
              <a:rPr lang="en-GB" sz="1200" b="0" i="0">
                <a:solidFill>
                  <a:srgbClr val="374151"/>
                </a:solidFill>
                <a:latin typeface="Google Sans Flex"/>
                <a:ea typeface="Google Sans Flex"/>
                <a:cs typeface="Google Sans Flex"/>
                <a:sym typeface="Google Sans Flex"/>
              </a:rPr>
              <a:t>Google Gemini 3.8 Flash, Google Cloud Run, Google Cloud Firestore, Google Maps Platform</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Frontend &amp; Mobile PWA: </a:t>
            </a:r>
            <a:r>
              <a:rPr lang="en-GB" sz="1200" b="0" i="0">
                <a:solidFill>
                  <a:srgbClr val="374151"/>
                </a:solidFill>
                <a:latin typeface="Google Sans Flex"/>
                <a:ea typeface="Google Sans Flex"/>
                <a:cs typeface="Google Sans Flex"/>
                <a:sym typeface="Google Sans Flex"/>
              </a:rPr>
              <a:t>React 19, TypeScript 7.0, Vite 8.3, Tailwind CSS 4.3, Lucide React, Workbox Service Worker</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Edge Persistence &amp; Security: </a:t>
            </a:r>
            <a:r>
              <a:rPr lang="en-GB" sz="1200" b="0" i="0">
                <a:solidFill>
                  <a:srgbClr val="374151"/>
                </a:solidFill>
                <a:latin typeface="Google Sans Flex"/>
                <a:ea typeface="Google Sans Flex"/>
                <a:cs typeface="Google Sans Flex"/>
                <a:sym typeface="Google Sans Flex"/>
              </a:rPr>
              <a:t>Browser IndexedDB (15 stores), Client-side QR / Barcodes, SHA-256 hashing, Role-Based Access Control (RBAC)</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Edge Micro-Server: </a:t>
            </a:r>
            <a:r>
              <a:rPr lang="en-GB" sz="1200" b="0" i="0">
                <a:solidFill>
                  <a:srgbClr val="374151"/>
                </a:solidFill>
                <a:latin typeface="Google Sans Flex"/>
                <a:ea typeface="Google Sans Flex"/>
                <a:cs typeface="Google Sans Flex"/>
                <a:sym typeface="Google Sans Flex"/>
              </a:rPr>
              <a:t>Node.js 22 LTS, Express 4.21, Docker, compatible with low-cost $35 Raspberry Pi local mesh nodes</a:t>
            </a:r>
            <a:endParaRPr sz="1250">
              <a:latin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0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0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0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0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Estimated implementation cost (optional)</a:t>
            </a:r>
            <a:endParaRPr sz="1800">
              <a:latin typeface="Google Sans Flex SemiBold"/>
            </a:endParaRPr>
          </a:p>
          <a:p>
            <a:pPr indent="0" lvl="0" marL="0" rtl="0" algn="l">
              <a:spcBef>
                <a:spcPts val="40"/>
              </a:spcBef>
              <a:buNone/>
            </a:pPr>
            <a:r>
              <a:rPr lang="en-GB" sz="1100">
                <a:solidFill>
                  <a:srgbClr val="4B5563"/>
                </a:solidFill>
                <a:latin typeface="Google Sans Flex"/>
              </a:rPr>
              <a:t>Frugal, Highly Scalable Cost Model for Community &amp; LGU Deployments</a:t>
            </a:r>
            <a:endParaRPr sz="1100">
              <a:latin typeface="Google Sans Flex"/>
            </a:endParaRPr>
          </a:p>
        </p:txBody>
      </p:sp>
      <p:sp>
        <p:nvSpPr>
          <p:cNvPr id="20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Citizen Edge Client (Resident / Responder): </a:t>
            </a:r>
            <a:r>
              <a:rPr lang="en-GB" sz="1200" b="0" i="0">
                <a:solidFill>
                  <a:srgbClr val="374151"/>
                </a:solidFill>
                <a:latin typeface="Google Sans Flex"/>
                <a:ea typeface="Google Sans Flex"/>
                <a:cs typeface="Google Sans Flex"/>
                <a:sym typeface="Google Sans Flex"/>
              </a:rPr>
              <a:t>$0.00 incremental cost. Runs directly in standard mobile web browsers as a PWA without app store fees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Community Shelter Local Node (Optional): </a:t>
            </a:r>
            <a:r>
              <a:rPr lang="en-GB" sz="1200" b="0" i="0">
                <a:solidFill>
                  <a:srgbClr val="374151"/>
                </a:solidFill>
                <a:latin typeface="Google Sans Flex"/>
                <a:ea typeface="Google Sans Flex"/>
                <a:cs typeface="Google Sans Flex"/>
                <a:sym typeface="Google Sans Flex"/>
              </a:rPr>
              <a:t>~$35-$60 one-time hardware cost per shelter (Raspberry Pi 4/5 or repurposed PC serving local Wi-Fi)</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Google Cloud Run &amp; Cloud Firestore: </a:t>
            </a:r>
            <a:r>
              <a:rPr lang="en-GB" sz="1200" b="0" i="0">
                <a:solidFill>
                  <a:srgbClr val="374151"/>
                </a:solidFill>
                <a:latin typeface="Google Sans Flex"/>
                <a:ea typeface="Google Sans Flex"/>
                <a:cs typeface="Google Sans Flex"/>
                <a:sym typeface="Google Sans Flex"/>
              </a:rPr>
              <a:t>$15-$50/month during active disaster activations; serverless model scales to zero during calm periods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Google Gemini 3.8 Flash API: </a:t>
            </a:r>
            <a:r>
              <a:rPr lang="en-GB" sz="1200" b="0" i="0">
                <a:solidFill>
                  <a:srgbClr val="374151"/>
                </a:solidFill>
                <a:latin typeface="Google Sans Flex"/>
                <a:ea typeface="Google Sans Flex"/>
                <a:cs typeface="Google Sans Flex"/>
                <a:sym typeface="Google Sans Flex"/>
              </a:rPr>
              <a:t>~$10-$30/month during typhoon activations; prompt caching and bounded schemas keep token usage minimal</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Total Community Pilot Budget: </a:t>
            </a:r>
            <a:r>
              <a:rPr lang="en-GB" sz="1200" b="0" i="0">
                <a:solidFill>
                  <a:srgbClr val="374151"/>
                </a:solidFill>
                <a:latin typeface="Google Sans Flex"/>
                <a:ea typeface="Google Sans Flex"/>
                <a:cs typeface="Google Sans Flex"/>
                <a:sym typeface="Google Sans Flex"/>
              </a:rPr>
              <a:t>Under $500 for a multi-shelter pilot across Marikina River Basin barangays</a:t>
            </a:r>
            <a:endParaRPr sz="1250">
              <a:latin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1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1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1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1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Snapshots of the prototype</a:t>
            </a:r>
            <a:endParaRPr sz="1800">
              <a:latin typeface="Google Sans Flex SemiBold"/>
            </a:endParaRPr>
          </a:p>
          <a:p>
            <a:pPr indent="0" lvl="0" marL="0" rtl="0" algn="l">
              <a:spcBef>
                <a:spcPts val="40"/>
              </a:spcBef>
              <a:buNone/>
            </a:pPr>
            <a:r>
              <a:rPr lang="en-GB" sz="1100">
                <a:solidFill>
                  <a:srgbClr val="4B5563"/>
                </a:solidFill>
                <a:latin typeface="Google Sans Flex"/>
              </a:rPr>
              <a:t>Live Operational Prototype Validated on Simulated Marikina River Scenarios</a:t>
            </a:r>
            <a:endParaRPr sz="1100">
              <a:latin typeface="Google Sans Flex"/>
            </a:endParaRPr>
          </a:p>
        </p:txBody>
      </p:sp>
      <!-- Snapshot 1: START Triage -->
      <p:pic>
        <p:nvPicPr>
          <p:cNvPr id="214" name="Img_Triage" title="feature_start_triage.jpg"/>
          <p:cNvPicPr preferRelativeResize="0"/>
          <p:nvPr/>
        </p:nvPicPr>
        <p:blipFill>
          <a:blip r:embed="rIdImgTriage"/>
          <a:stretch>
            <a:fillRect/>
          </a:stretch>
        </p:blipFill>
        <p:spPr>
          <a:xfrm>
            <a:off x="400000" y="1420000"/>
            <a:ext cx="4050000" cy="1450000"/>
          </a:xfrm>
          <a:prstGeom prst="rect">
            <a:avLst/>
          </a:prstGeom>
          <a:noFill/>
          <a:ln w="12700">
            <a:solidFill>
              <a:srgbClr val="CBD5E1"/>
            </a:solidFill>
          </a:ln>
        </p:spPr>
      </p:pic>
      <p:sp>
        <p:nvSpPr>
          <p:cNvPr id="215" name="Lbl_Triage"/>
          <p:cNvSpPr txBox="1"/>
          <p:nvPr/>
        </p:nvSpPr>
        <p:spPr>
          <a:xfrm>
            <a:off x="400000" y="289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START Field Triage &amp; Rapid QR Wristbands</a:t>
            </a:r>
          </a:p>
        </p:txBody>
      </p:sp>
      <!-- Snapshot 2: Ayuda QR -->
      <p:pic>
        <p:nvPicPr>
          <p:cNvPr id="216" name="Img_Ayuda" title="evacuation_relief_ayuda.jpg"/>
          <p:cNvPicPr preferRelativeResize="0"/>
          <p:nvPr/>
        </p:nvPicPr>
        <p:blipFill>
          <a:blip r:embed="rIdImgAyuda"/>
          <a:stretch>
            <a:fillRect/>
          </a:stretch>
        </p:blipFill>
        <p:spPr>
          <a:xfrm>
            <a:off x="4650000" y="1420000"/>
            <a:ext cx="4050000" cy="1450000"/>
          </a:xfrm>
          <a:prstGeom prst="rect">
            <a:avLst/>
          </a:prstGeom>
          <a:noFill/>
          <a:ln w="12700">
            <a:solidFill>
              <a:srgbClr val="CBD5E1"/>
            </a:solidFill>
          </a:ln>
        </p:spPr>
      </p:pic>
      <p:sp>
        <p:nvSpPr>
          <p:cNvPr id="217" name="Lbl_Ayuda"/>
          <p:cNvSpPr txBox="1"/>
          <p:nvPr/>
        </p:nvSpPr>
        <p:spPr>
          <a:xfrm>
            <a:off x="4650000" y="289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Tamper-Resistant Ayuda QR Ration Distribution (24h Cooldown)</a:t>
            </a:r>
          </a:p>
        </p:txBody>
      </p:sp>
      <!-- Snapshot 3: Bayanihan Mutual Aid -->
      <p:pic>
        <p:nvPicPr>
          <p:cNvPr id="218" name="Img_Aid" title="feature_bayanihan_aid.jpg"/>
          <p:cNvPicPr preferRelativeResize="0"/>
          <p:nvPr/>
        </p:nvPicPr>
        <p:blipFill>
          <a:blip r:embed="rIdImgAid"/>
          <a:stretch>
            <a:fillRect/>
          </a:stretch>
        </p:blipFill>
        <p:spPr>
          <a:xfrm>
            <a:off x="400000" y="3200000"/>
            <a:ext cx="4050000" cy="1450000"/>
          </a:xfrm>
          <a:prstGeom prst="rect">
            <a:avLst/>
          </a:prstGeom>
          <a:noFill/>
          <a:ln w="12700">
            <a:solidFill>
              <a:srgbClr val="CBD5E1"/>
            </a:solidFill>
          </a:ln>
        </p:spPr>
      </p:pic>
      <p:sp>
        <p:nvSpPr>
          <p:cNvPr id="219" name="Lbl_Aid"/>
          <p:cNvSpPr txBox="1"/>
          <p:nvPr/>
        </p:nvSpPr>
        <p:spPr>
          <a:xfrm>
            <a:off x="400000" y="467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Bayanihan Community Mutual Aid Board (Peer Barter)</a:t>
            </a:r>
          </a:p>
        </p:txBody>
      </p:sp>
      <!-- Snapshot 4: SOS Beacon -->
      <p:pic>
        <p:nvPicPr>
          <p:cNvPr id="220" name="Img_Beacon" title="feature_beacon_sos.jpg"/>
          <p:cNvPicPr preferRelativeResize="0"/>
          <p:nvPr/>
        </p:nvPicPr>
        <p:blipFill>
          <a:blip r:embed="rIdImgBeacon"/>
          <a:stretch>
            <a:fillRect/>
          </a:stretch>
        </p:blipFill>
        <p:spPr>
          <a:xfrm>
            <a:off x="4650000" y="3200000"/>
            <a:ext cx="4050000" cy="1450000"/>
          </a:xfrm>
          <a:prstGeom prst="rect">
            <a:avLst/>
          </a:prstGeom>
          <a:noFill/>
          <a:ln w="12700">
            <a:solidFill>
              <a:srgbClr val="CBD5E1"/>
            </a:solidFill>
          </a:ln>
        </p:spPr>
      </p:pic>
      <p:sp>
        <p:nvSpPr>
          <p:cNvPr id="221" name="Lbl_Beacon"/>
          <p:cNvSpPr txBox="1"/>
          <p:nvPr/>
        </p:nvSpPr>
        <p:spPr>
          <a:xfrm>
            <a:off x="4650000" y="467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Emergency Survival Beacon ('Find Me' Optical SOS)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2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2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2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2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Prototype Performance report/Benchmarking</a:t>
            </a:r>
            <a:endParaRPr sz="1800">
              <a:latin typeface="Google Sans Flex SemiBold"/>
            </a:endParaRPr>
          </a:p>
          <a:p>
            <a:pPr indent="0" lvl="0" marL="0" rtl="0" algn="l">
              <a:spcBef>
                <a:spcPts val="40"/>
              </a:spcBef>
              <a:buNone/>
            </a:pPr>
            <a:r>
              <a:rPr lang="en-GB" sz="1100">
                <a:solidFill>
                  <a:srgbClr val="4B5563"/>
                </a:solidFill>
                <a:latin typeface="Google Sans Flex"/>
              </a:rPr>
              <a:t>Rigorous Engineering Verification Across 244 Automated Test Assertions</a:t>
            </a:r>
            <a:endParaRPr sz="1100">
              <a:latin typeface="Google Sans Flex"/>
            </a:endParaRPr>
          </a:p>
        </p:txBody>
      </p:sp>
      <p:sp>
        <p:nvSpPr>
          <p:cNvPr id="22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Simulation &amp; Validation Scope: </a:t>
            </a:r>
            <a:r>
              <a:rPr lang="en-GB" sz="1200" b="0" i="0">
                <a:solidFill>
                  <a:srgbClr val="374151"/>
                </a:solidFill>
                <a:latin typeface="Google Sans Flex"/>
                <a:ea typeface="Google Sans Flex"/>
                <a:cs typeface="Google Sans Flex"/>
                <a:sym typeface="Google Sans Flex"/>
              </a:rPr>
              <a:t>Evaluated on simulated Marikina River Basin flood telemetry (Typhoon Ondoy / Ulysses baselines); not tested in actual live disasters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Automated Test Pass Rate: </a:t>
            </a:r>
            <a:r>
              <a:rPr lang="en-GB" sz="1200" b="0" i="0">
                <a:solidFill>
                  <a:srgbClr val="374151"/>
                </a:solidFill>
                <a:latin typeface="Google Sans Flex"/>
                <a:ea typeface="Google Sans Flex"/>
                <a:cs typeface="Google Sans Flex"/>
                <a:sym typeface="Google Sans Flex"/>
              </a:rPr>
              <a:t>244 / 244 test assertions passing across 5 test suites with zero failures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Local Write Latency: </a:t>
            </a:r>
            <a:r>
              <a:rPr lang="en-GB" sz="1200" b="0" i="0">
                <a:solidFill>
                  <a:srgbClr val="374151"/>
                </a:solidFill>
                <a:latin typeface="Google Sans Flex"/>
                <a:ea typeface="Google Sans Flex"/>
                <a:cs typeface="Google Sans Flex"/>
                <a:sym typeface="Google Sans Flex"/>
              </a:rPr>
              <a:t>&lt; 15ms transaction write time to browser IndexedDB, eliminating packet loss delays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Vulnerability Prioritization: </a:t>
            </a:r>
            <a:r>
              <a:rPr lang="en-GB" sz="1200" b="0" i="0">
                <a:solidFill>
                  <a:srgbClr val="374151"/>
                </a:solidFill>
                <a:latin typeface="Google Sans Flex"/>
                <a:ea typeface="Google Sans Flex"/>
                <a:cs typeface="Google Sans Flex"/>
                <a:sym typeface="Google Sans Flex"/>
              </a:rPr>
              <a:t>Bedridden seniors and infants scored at 94/100, successfully prioritized ahead of general queues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Relief Distribution Integrity: </a:t>
            </a:r>
            <a:r>
              <a:rPr lang="en-GB" sz="1200" b="0" i="0">
                <a:solidFill>
                  <a:srgbClr val="374151"/>
                </a:solidFill>
                <a:latin typeface="Google Sans Flex"/>
                <a:ea typeface="Google Sans Flex"/>
                <a:cs typeface="Google Sans Flex"/>
                <a:sym typeface="Google Sans Flex"/>
              </a:rPr>
              <a:t>24h cooldown stops duplicate ayuda claims; zero-overdraft arithmetic blocks negative inventory allocations</a:t>
            </a:r>
            <a:endParaRPr sz="1250">
              <a:latin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3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3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3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3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Additional Details/Future Development (if any)</a:t>
            </a:r>
            <a:endParaRPr sz="1800">
              <a:latin typeface="Google Sans Flex SemiBold"/>
            </a:endParaRPr>
          </a:p>
          <a:p>
            <a:pPr indent="0" lvl="0" marL="0" rtl="0" algn="l">
              <a:spcBef>
                <a:spcPts val="40"/>
              </a:spcBef>
              <a:buNone/>
            </a:pPr>
            <a:r>
              <a:rPr lang="en-GB" sz="1100">
                <a:solidFill>
                  <a:srgbClr val="4B5563"/>
                </a:solidFill>
                <a:latin typeface="Google Sans Flex"/>
              </a:rPr>
              <a:t>Roadmap: From Simulated Baseline to Barangay Field Pilots &amp; Regional Scaling</a:t>
            </a:r>
            <a:endParaRPr sz="1100">
              <a:latin typeface="Google Sans Flex"/>
            </a:endParaRPr>
          </a:p>
        </p:txBody>
      </p:sp>
      <p:sp>
        <p:nvSpPr>
          <p:cNvPr id="23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Phase 1: </a:t>
            </a:r>
            <a:r>
              <a:rPr lang="en-GB" sz="1200" b="0" i="0">
                <a:solidFill>
                  <a:srgbClr val="374151"/>
                </a:solidFill>
                <a:latin typeface="Google Sans Flex"/>
                <a:ea typeface="Google Sans Flex"/>
                <a:cs typeface="Google Sans Flex"/>
                <a:sym typeface="Google Sans Flex"/>
              </a:rPr>
              <a:t>Current Prototype (Immediate) - Evaluated on simulated Marikina River scenarios with 244 passing tests across 7 community modules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Phase 2: </a:t>
            </a:r>
            <a:r>
              <a:rPr lang="en-GB" sz="1200" b="0" i="0">
                <a:solidFill>
                  <a:srgbClr val="374151"/>
                </a:solidFill>
                <a:latin typeface="Google Sans Flex"/>
                <a:ea typeface="Google Sans Flex"/>
                <a:cs typeface="Google Sans Flex"/>
                <a:sym typeface="Google Sans Flex"/>
              </a:rPr>
              <a:t>Barangay Field Pilots (Months 3-6) - Multi-shelter field pilot with Marikina City DRRMO; LoRa/Bluetooth mesh node hardware; local VHF radio bridge</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Phase 3: </a:t>
            </a:r>
            <a:r>
              <a:rPr lang="en-GB" sz="1200" b="0" i="0">
                <a:solidFill>
                  <a:srgbClr val="374151"/>
                </a:solidFill>
                <a:latin typeface="Google Sans Flex"/>
                <a:ea typeface="Google Sans Flex"/>
                <a:cs typeface="Google Sans Flex"/>
                <a:sym typeface="Google Sans Flex"/>
              </a:rPr>
              <a:t>Nationwide &amp; Regional Scaling (Months 6-18) - Scaling to 17 Metro Manila LGUs and 42,000+ Philippine Barangays via OCD / DILG; Tagalog/Cebuano/Ilocano localization</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Responsible AI Evolution: </a:t>
            </a:r>
            <a:r>
              <a:rPr lang="en-GB" sz="1200" b="0" i="0">
                <a:solidFill>
                  <a:srgbClr val="374151"/>
                </a:solidFill>
                <a:latin typeface="Google Sans Flex"/>
                <a:ea typeface="Google Sans Flex"/>
                <a:cs typeface="Google Sans Flex"/>
                <a:sym typeface="Google Sans Flex"/>
              </a:rPr>
              <a:t>Continuous refinement of evidence grounding, automated data sanitization, and human coordinator authorization boundaries</a:t>
            </a:r>
            <a:endParaRPr sz="1250">
              <a:latin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4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4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4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4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Provide links to your:</a:t>
            </a:r>
            <a:endParaRPr sz="1800">
              <a:latin typeface="Google Sans Flex SemiBold"/>
            </a:endParaRPr>
          </a:p>
          <a:p>
            <a:pPr indent="0" lvl="0" marL="0" rtl="0" algn="l">
              <a:spcBef>
                <a:spcPts val="40"/>
              </a:spcBef>
              <a:buNone/>
            </a:pPr>
            <a:r>
              <a:rPr lang="en-GB" sz="1100">
                <a:solidFill>
                  <a:srgbClr val="4B5563"/>
                </a:solidFill>
                <a:latin typeface="Google Sans Flex"/>
              </a:rPr>
              <a:t>GitHub Public Repository, 3-Minute Demo Video, and Final Product Prototype</a:t>
            </a:r>
            <a:endParaRPr sz="1100">
              <a:latin typeface="Google Sans Flex"/>
            </a:endParaRPr>
          </a:p>
        </p:txBody>
      </p:sp>
      <p:sp>
        <p:nvSpPr>
          <p:cNvPr id="244" name="Content_Links"/>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400"/>
              <a:buFont typeface="Google Sans Flex"/>
              <a:buChar char="●"/>
            </a:pPr>
            <a:r>
              <a:rPr lang="en-GB" sz="1400" b="1" i="0">
                <a:solidFill>
                  <a:srgbClr val="111827"/>
                </a:solidFill>
                <a:latin typeface="Google Sans Flex SemiBold"/>
                <a:ea typeface="Google Sans Flex SemiBold"/>
                <a:cs typeface="Google Sans Flex SemiBold"/>
                <a:sym typeface="Google Sans Flex SemiBold"/>
              </a:rPr>
              <a:t>1. GitHub Public Repository:</a:t>
            </a:r>
            <a:endParaRPr sz="1400">
              <a:latin typeface="Google Sans Flex"/>
            </a:endParaRPr>
          </a:p>
          <a:p>
            <a:pPr indent="-311150" lvl="0" marL="457200" rtl="0" algn="l">
              <a:spcBef>
                <a:spcPts val="10"/>
              </a:spcBef>
              <a:spcAft>
                <a:spcPts val="10"/>
              </a:spcAft>
              <a:buSzPts val="1300"/>
              <a:buFont typeface="Google Sans Flex"/>
              <a:buChar char="●"/>
            </a:pPr>
            <a:r>
              <a:rPr lang="en-GB" sz="1300" b="1" i="0">
                <a:solidFill>
                  <a:srgbClr val="111827"/>
                </a:solidFill>
                <a:latin typeface="Google Sans Flex SemiBold"/>
                <a:ea typeface="Google Sans Flex SemiBold"/>
                <a:cs typeface="Google Sans Flex SemiBold"/>
                <a:sym typeface="Google Sans Flex SemiBold"/>
              </a:rPr>
              <a:t>  • URL: </a:t>
            </a:r>
            <a:r>
              <a:rPr lang="en-GB" sz="1250" b="0" i="0">
                <a:solidFill>
                  <a:srgbClr val="374151"/>
                </a:solidFill>
                <a:latin typeface="Google Sans Flex"/>
                <a:ea typeface="Google Sans Flex"/>
                <a:cs typeface="Google Sans Flex"/>
                <a:sym typeface="Google Sans Flex"/>
              </a:rPr>
              <a:t>https://github.com/resilia-project/resilia</a:t>
            </a:r>
            <a:endParaRPr sz="1300">
              <a:latin typeface="Google Sans Flex"/>
            </a:endParaRPr>
          </a:p>
          <a:p>
            <a:pPr indent="-311150" lvl="0" marL="457200" rtl="0" algn="l">
              <a:spcBef>
                <a:spcPts val="10"/>
              </a:spcBef>
              <a:spcAft>
                <a:spcPts val="40"/>
              </a:spcAft>
              <a:buSzPts val="1200"/>
              <a:buFont typeface="Google Sans Flex"/>
              <a:buChar char="●"/>
            </a:pPr>
            <a:r>
              <a:rPr lang="en-GB" sz="1200" b="1" i="0">
                <a:solidFill>
                  <a:srgbClr val="111827"/>
                </a:solidFill>
                <a:latin typeface="Google Sans Flex SemiBold"/>
                <a:ea typeface="Google Sans Flex SemiBold"/>
                <a:cs typeface="Google Sans Flex SemiBold"/>
                <a:sym typeface="Google Sans Flex SemiBold"/>
              </a:rPr>
              <a:t>  • Scope: </a:t>
            </a:r>
            <a:r>
              <a:rPr lang="en-GB" sz="1150" b="0" i="0">
                <a:solidFill>
                  <a:srgbClr val="374151"/>
                </a:solidFill>
                <a:latin typeface="Google Sans Flex"/>
                <a:ea typeface="Google Sans Flex"/>
                <a:cs typeface="Google Sans Flex"/>
                <a:sym typeface="Google Sans Flex"/>
              </a:rPr>
              <a:t>Full open-source codebase featuring React 19, TypeScript, Google Gemini 3.8 Flash SDK, 15 IndexedDB stores, and 244 automated test assertions.</a:t>
            </a:r>
            <a:endParaRPr sz="1200">
              <a:latin typeface="Google Sans Flex"/>
            </a:endParaRPr>
          </a:p>
          <a:p>
            <a:pPr indent="-311150" lvl="0" marL="457200" rtl="0" algn="l">
              <a:spcBef>
                <a:spcPts val="30"/>
              </a:spcBef>
              <a:spcAft>
                <a:spcPts val="20"/>
              </a:spcAft>
              <a:buSzPts val="1400"/>
              <a:buFont typeface="Google Sans Flex"/>
              <a:buChar char="●"/>
            </a:pPr>
            <a:r>
              <a:rPr lang="en-GB" sz="1400" b="1" i="0">
                <a:solidFill>
                  <a:srgbClr val="111827"/>
                </a:solidFill>
                <a:latin typeface="Google Sans Flex SemiBold"/>
                <a:ea typeface="Google Sans Flex SemiBold"/>
                <a:cs typeface="Google Sans Flex SemiBold"/>
                <a:sym typeface="Google Sans Flex SemiBold"/>
              </a:rPr>
              <a:t>2. Demo Video Link (3 Minutes):</a:t>
            </a:r>
            <a:endParaRPr sz="1400">
              <a:latin typeface="Google Sans Flex"/>
            </a:endParaRPr>
          </a:p>
          <a:p>
            <a:pPr indent="-311150" lvl="0" marL="457200" rtl="0" algn="l">
              <a:spcBef>
                <a:spcPts val="10"/>
              </a:spcBef>
              <a:spcAft>
                <a:spcPts val="10"/>
              </a:spcAft>
              <a:buSzPts val="1300"/>
              <a:buFont typeface="Google Sans Flex"/>
              <a:buChar char="●"/>
            </a:pPr>
            <a:r>
              <a:rPr lang="en-GB" sz="1300" b="1" i="0">
                <a:solidFill>
                  <a:srgbClr val="111827"/>
                </a:solidFill>
                <a:latin typeface="Google Sans Flex SemiBold"/>
                <a:ea typeface="Google Sans Flex SemiBold"/>
                <a:cs typeface="Google Sans Flex SemiBold"/>
                <a:sym typeface="Google Sans Flex SemiBold"/>
              </a:rPr>
              <a:t>  • URL: </a:t>
            </a:r>
            <a:r>
              <a:rPr lang="en-GB" sz="1250" b="0" i="0">
                <a:solidFill>
                  <a:srgbClr val="374151"/>
                </a:solidFill>
                <a:latin typeface="Google Sans Flex"/>
                <a:ea typeface="Google Sans Flex"/>
                <a:cs typeface="Google Sans Flex"/>
                <a:sym typeface="Google Sans Flex"/>
              </a:rPr>
              <a:t>https://youtu.be/resilia-ai-builder-cup-demo</a:t>
            </a:r>
            <a:endParaRPr sz="1300">
              <a:latin typeface="Google Sans Flex"/>
            </a:endParaRPr>
          </a:p>
          <a:p>
            <a:pPr indent="-311150" lvl="0" marL="457200" rtl="0" algn="l">
              <a:spcBef>
                <a:spcPts val="10"/>
              </a:spcBef>
              <a:spcAft>
                <a:spcPts val="40"/>
              </a:spcAft>
              <a:buSzPts val="1200"/>
              <a:buFont typeface="Google Sans Flex"/>
              <a:buChar char="●"/>
            </a:pPr>
            <a:r>
              <a:rPr lang="en-GB" sz="1200" b="1" i="0">
                <a:solidFill>
                  <a:srgbClr val="111827"/>
                </a:solidFill>
                <a:latin typeface="Google Sans Flex SemiBold"/>
                <a:ea typeface="Google Sans Flex SemiBold"/>
                <a:cs typeface="Google Sans Flex SemiBold"/>
                <a:sym typeface="Google Sans Flex SemiBold"/>
              </a:rPr>
              <a:t>  • Scope: </a:t>
            </a:r>
            <a:r>
              <a:rPr lang="en-GB" sz="1150" b="0" i="0">
                <a:solidFill>
                  <a:srgbClr val="374151"/>
                </a:solidFill>
                <a:latin typeface="Google Sans Flex"/>
                <a:ea typeface="Google Sans Flex"/>
                <a:cs typeface="Google Sans Flex"/>
                <a:sym typeface="Google Sans Flex"/>
              </a:rPr>
              <a:t>Exact 03:00.00 Full HD walkthrough narrated with a compassionate female voiceover showcasing all 3 user roles and 7 built community modules.</a:t>
            </a:r>
            <a:endParaRPr sz="1200">
              <a:latin typeface="Google Sans Flex"/>
            </a:endParaRPr>
          </a:p>
          <a:p>
            <a:pPr indent="-311150" lvl="0" marL="457200" rtl="0" algn="l">
              <a:spcBef>
                <a:spcPts val="30"/>
              </a:spcBef>
              <a:spcAft>
                <a:spcPts val="20"/>
              </a:spcAft>
              <a:buSzPts val="1400"/>
              <a:buFont typeface="Google Sans Flex"/>
              <a:buChar char="●"/>
            </a:pPr>
            <a:r>
              <a:rPr lang="en-GB" sz="1400" b="1" i="0">
                <a:solidFill>
                  <a:srgbClr val="111827"/>
                </a:solidFill>
                <a:latin typeface="Google Sans Flex SemiBold"/>
                <a:ea typeface="Google Sans Flex SemiBold"/>
                <a:cs typeface="Google Sans Flex SemiBold"/>
                <a:sym typeface="Google Sans Flex SemiBold"/>
              </a:rPr>
              <a:t>3. Final Product Link:</a:t>
            </a:r>
            <a:endParaRPr sz="1400">
              <a:latin typeface="Google Sans Flex"/>
            </a:endParaRPr>
          </a:p>
          <a:p>
            <a:pPr indent="-311150" lvl="0" marL="457200" rtl="0" algn="l">
              <a:spcBef>
                <a:spcPts val="10"/>
              </a:spcBef>
              <a:spcAft>
                <a:spcPts val="10"/>
              </a:spcAft>
              <a:buSzPts val="1300"/>
              <a:buFont typeface="Google Sans Flex"/>
              <a:buChar char="●"/>
            </a:pPr>
            <a:r>
              <a:rPr lang="en-GB" sz="1300" b="1" i="0">
                <a:solidFill>
                  <a:srgbClr val="111827"/>
                </a:solidFill>
                <a:latin typeface="Google Sans Flex SemiBold"/>
                <a:ea typeface="Google Sans Flex SemiBold"/>
                <a:cs typeface="Google Sans Flex SemiBold"/>
                <a:sym typeface="Google Sans Flex SemiBold"/>
              </a:rPr>
              <a:t>  • URL: </a:t>
            </a:r>
            <a:r>
              <a:rPr lang="en-GB" sz="1250" b="0" i="0">
                <a:solidFill>
                  <a:srgbClr val="374151"/>
                </a:solidFill>
                <a:latin typeface="Google Sans Flex"/>
                <a:ea typeface="Google Sans Flex"/>
                <a:cs typeface="Google Sans Flex"/>
                <a:sym typeface="Google Sans Flex"/>
              </a:rPr>
              <a:t>http://localhost:3000 (Production Build &amp; PWA) | http://localhost:3000/presentation.html</a:t>
            </a:r>
            <a:endParaRPr sz="1300">
              <a:latin typeface="Google Sans Flex"/>
            </a:endParaRPr>
          </a:p>
          <a:p>
            <a:pPr indent="-311150" lvl="0" marL="457200" rtl="0" algn="l">
              <a:spcBef>
                <a:spcPts val="10"/>
              </a:spcBef>
              <a:spcAft>
                <a:spcPts val="20"/>
              </a:spcAft>
              <a:buSzPts val="1200"/>
              <a:buFont typeface="Google Sans Flex"/>
              <a:buChar char="●"/>
            </a:pPr>
            <a:r>
              <a:rPr lang="en-GB" sz="1200" b="1" i="0">
                <a:solidFill>
                  <a:srgbClr val="111827"/>
                </a:solidFill>
                <a:latin typeface="Google Sans Flex SemiBold"/>
                <a:ea typeface="Google Sans Flex SemiBold"/>
                <a:cs typeface="Google Sans Flex SemiBold"/>
                <a:sym typeface="Google Sans Flex SemiBold"/>
              </a:rPr>
              <a:t>  • Scope: </a:t>
            </a:r>
            <a:r>
              <a:rPr lang="en-GB" sz="1150" b="0" i="0">
                <a:solidFill>
                  <a:srgbClr val="374151"/>
                </a:solidFill>
                <a:latin typeface="Google Sans Flex"/>
                <a:ea typeface="Google Sans Flex"/>
                <a:cs typeface="Google Sans Flex"/>
                <a:sym typeface="Google Sans Flex"/>
              </a:rPr>
              <a:t>Fully interactive Progressive Web App featuring instant offline simulation toggle, three-role switcher, live river telemetry feeds, and downloadable pitch deck.</a:t>
            </a:r>
            <a:endParaRPr sz="1200">
              <a:latin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5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5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5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5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Community Resilience &amp; Sustainability Alignment</a:t>
            </a:r>
            <a:endParaRPr sz="1800">
              <a:latin typeface="Google Sans Flex SemiBold"/>
            </a:endParaRPr>
          </a:p>
          <a:p>
            <a:pPr indent="0" lvl="0" marL="0" rtl="0" algn="l">
              <a:spcBef>
                <a:spcPts val="40"/>
              </a:spcBef>
              <a:buNone/>
            </a:pPr>
            <a:r>
              <a:rPr lang="en-GB" sz="1100">
                <a:solidFill>
                  <a:srgbClr val="4B5563"/>
                </a:solidFill>
                <a:latin typeface="Google Sans Flex"/>
              </a:rPr>
              <a:t>UN SDGs 11 &amp; 13, Sendai Framework for Disaster Risk Reduction, and Grassroots Bayanihan</a:t>
            </a:r>
            <a:endParaRPr sz="1100">
              <a:latin typeface="Google Sans Flex"/>
            </a:endParaRPr>
          </a:p>
        </p:txBody>
      </p:sp>
      <p:sp>
        <p:nvSpPr>
          <p:cNvPr id="25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UN Sustainable Development Goal 11: </a:t>
            </a:r>
            <a:r>
              <a:rPr lang="en-GB" sz="1200" b="0" i="0">
                <a:solidFill>
                  <a:srgbClr val="374151"/>
                </a:solidFill>
                <a:latin typeface="Google Sans Flex"/>
                <a:ea typeface="Google Sans Flex"/>
                <a:cs typeface="Google Sans Flex"/>
                <a:sym typeface="Google Sans Flex"/>
              </a:rPr>
              <a:t>Sustainable Cities &amp; Communities - Disaster resilience for coastal and river basin informal settlements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UN Sustainable Development Goal 13: </a:t>
            </a:r>
            <a:r>
              <a:rPr lang="en-GB" sz="1200" b="0" i="0">
                <a:solidFill>
                  <a:srgbClr val="374151"/>
                </a:solidFill>
                <a:latin typeface="Google Sans Flex"/>
                <a:ea typeface="Google Sans Flex"/>
                <a:cs typeface="Google Sans Flex"/>
                <a:sym typeface="Google Sans Flex"/>
              </a:rPr>
              <a:t>Climate Action - Strengthening adaptive capacity to intensifying supertyphoons and flash floods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Sendai Framework for DRR (2015-2030): </a:t>
            </a:r>
            <a:r>
              <a:rPr lang="en-GB" sz="1200" b="0" i="0">
                <a:solidFill>
                  <a:srgbClr val="374151"/>
                </a:solidFill>
                <a:latin typeface="Google Sans Flex"/>
                <a:ea typeface="Google Sans Flex"/>
                <a:cs typeface="Google Sans Flex"/>
                <a:sym typeface="Google Sans Flex"/>
              </a:rPr>
              <a:t>Priority 4 - Enhancing disaster preparedness for effective response and Building Back Better</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Grassroots Bayanihan Community Ownership: </a:t>
            </a:r>
            <a:r>
              <a:rPr lang="en-GB" sz="1200" b="0" i="0">
                <a:solidFill>
                  <a:srgbClr val="374151"/>
                </a:solidFill>
                <a:latin typeface="Google Sans Flex"/>
                <a:ea typeface="Google Sans Flex"/>
                <a:cs typeface="Google Sans Flex"/>
                <a:sym typeface="Google Sans Flex"/>
              </a:rPr>
              <a:t>completely free for citizens, no app store barrier, privacy-preserving local storage, community mesh</a:t>
            </a:r>
            <a:endParaRPr sz="1250">
              <a:latin typeface="Google Sans Flex"/>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70" name="Shape 170"/>
        <p:cNvGrpSpPr/>
        <p:nvPr/>
      </p:nvGrpSpPr>
      <p:grpSpPr>
        <a:xfrm>
          <a:off x="0" y="0"/>
          <a:ext cx="0" cy="0"/>
          <a:chOff x="0" y="0"/>
          <a:chExt cx="0" cy="0"/>
        </a:xfrm>
      </p:grpSpPr>
      <p:pic>
        <p:nvPicPr>
          <p:cNvPr id="172" name="Google Shape;172;p28" title="Frame 145.png"/>
          <p:cNvPicPr preferRelativeResize="0"/>
          <p:nvPr/>
        </p:nvPicPr>
        <p:blipFill>
          <a:blip r:embed="rIdTplThankYou"/>
          <a:stretch>
            <a:fillRect/>
          </a:stretch>
        </p:blipFill>
        <p:spPr>
          <a:xfrm>
            <a:off x="0" y="0"/>
            <a:ext cx="9144000" cy="5143516"/>
          </a:xfrm>
          <a:prstGeom prst="rect">
            <a:avLst/>
          </a:prstGeom>
          <a:noFill/>
          <a:ln>
            <a:noFill/>
          </a:ln>
        </p:spPr>
      </p:pic>
      <p:pic>
        <p:nvPicPr>
          <p:cNvPr id="171" name="Google Shape;171;p28"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